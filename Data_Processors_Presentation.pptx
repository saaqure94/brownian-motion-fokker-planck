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going to show a small project: one physics problem solved three completely independent ways - by calculus, by a grid solver, and by simulation - with results stored and verified in SQL. I chose it because it demonstrates Python, SQL, mathematical reasoning, and how I engineer for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English: a particle gets a steady push (drift, mu) and random knocks (diffusion, sigma). You can only say how LIKELY each position is. Two equations: the SDE for one particle, the PDE for the whole probability cloud. I chose this problem deliberately - it has a known exact answer, so it's a calibration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solution: move into a frame travelling with the breeze - the drift cancels, leaving the heat equation, whose solution is a bell curve: mean mu-t, variance sigma-squared-t. Width grows like root-t - the fingerprint of diffusion. Verified a second way by integrating the SDE directly. If they want the derivation, the appendix link jumps straight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A pure calculation module - three solvers, no side effects, unit-testable. An orchestrator runs sweeps and writes every run to SQLite, including deliberate failures. SQL asks cross-run questions; a test suite tries to prove the maths wrong. Three principles: separation of concerns, persist everything including failures, automate the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solver is handed the PDE. One vectorised NumPy line is the engine: new height = old height minus a slide correction plus a spread correction. Right-minus-left is the slope; neighbours-minus-twice-me is the curvature. The catch: r must stay at or below one half, or each step amplifies noise - I'll show that failing on purpose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Monte Carlo never touches the PDE. Simulate one particle - fixed drift plus a random knock - 100,000 times, and count where they land. Two vectorised lines, ten million movements, seeded and reproducible. Key point: the solver knew the cloud's equation; Monte Carlo only knew one particle's rule. No shared code or assumptions - so agreement means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Blue: exact analytical curve. Orange dashed: grid solver. Green: histogram of 100,000 simulated particles. Three independent routes, one curve. If any one had a bug or wrong assumption, they'd disagree.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Correctness is engineered. Left: r = 0.4, stable, sits on the exact answer. Right: r = 0.6 - same code, only the timestep changed - and it explodes. I provoke this deliberately and one of five automated tests asserts it happens. The others check mass conservation, exact moments, solver accuracy, and Monte Carlo convergence. Nothing here is eyeballed - it's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run is persisted, so SQL can answer what one run can't. A window function - LAG over n_paths - compares each batch's error to the previous batch. Theory: each tenfold in paths multiplies error by about 0.316. Measured: 0.317, 0.30, 0.29. The database proves the convergence rate. A second query exposes the stability cliff between r = 0.5 and 0.55.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independent methods agreeing is the strongest evidence an implementation is right. Failure modes are known, provoked, tested. Everything persisted and queryable. Python computes, SQL analyses, tests build trust. Accuracy can't be taken on faith - it has to be demonstrated. That's how I'd approach reliability in your systems too. Happy to take questions - including the full derivation.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asked: five steps. Moving frame kills the drift; what's left is the heat equation; Fourier turns it into one ODE per wave number; invert - a Gaussian; transform back. Cross-check by integrating the SDE directly. Offer to go slower on any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822960" y="1051560"/>
            <a:ext cx="10607040" cy="1828800"/>
          </a:xfrm>
          <a:prstGeom prst="rect">
            <a:avLst/>
          </a:prstGeom>
          <a:noFill/>
          <a:ln/>
        </p:spPr>
        <p:txBody>
          <a:bodyPr wrap="square" lIns="0" tIns="0" rIns="0" bIns="0" rtlCol="0" anchor="ctr"/>
          <a:lstStyle/>
          <a:p>
            <a:pPr indent="0" marL="0">
              <a:lnSpc>
                <a:spcPct val="105000"/>
              </a:lnSpc>
              <a:buNone/>
            </a:pPr>
            <a:r>
              <a:rPr lang="en-US" sz="4300" b="1" dirty="0">
                <a:solidFill>
                  <a:srgbClr val="FFFFFF"/>
                </a:solidFill>
              </a:rPr>
              <a:t>One Problem,</a:t>
            </a:r>
            <a:endParaRPr lang="en-US" sz="4300" dirty="0"/>
          </a:p>
          <a:p>
            <a:pPr indent="0" marL="0">
              <a:lnSpc>
                <a:spcPct val="105000"/>
              </a:lnSpc>
              <a:buNone/>
            </a:pPr>
            <a:r>
              <a:rPr lang="en-US" sz="4300" b="1" dirty="0">
                <a:solidFill>
                  <a:srgbClr val="FFFFFF"/>
                </a:solidFill>
              </a:rPr>
              <a:t>Three Independent Solutions</a:t>
            </a:r>
            <a:endParaRPr lang="en-US" sz="4300" dirty="0"/>
          </a:p>
        </p:txBody>
      </p:sp>
      <p:sp>
        <p:nvSpPr>
          <p:cNvPr id="3" name="Text 1"/>
          <p:cNvSpPr/>
          <p:nvPr/>
        </p:nvSpPr>
        <p:spPr>
          <a:xfrm>
            <a:off x="822960" y="2971800"/>
            <a:ext cx="9875520" cy="868680"/>
          </a:xfrm>
          <a:prstGeom prst="rect">
            <a:avLst/>
          </a:prstGeom>
          <a:noFill/>
          <a:ln/>
        </p:spPr>
        <p:txBody>
          <a:bodyPr wrap="square" lIns="0" tIns="0" rIns="0" bIns="0" rtlCol="0" anchor="ctr"/>
          <a:lstStyle/>
          <a:p>
            <a:pPr indent="0" marL="0">
              <a:lnSpc>
                <a:spcPct val="120000"/>
              </a:lnSpc>
              <a:buNone/>
            </a:pPr>
            <a:r>
              <a:rPr lang="en-US" sz="1900" dirty="0">
                <a:solidFill>
                  <a:srgbClr val="B8C4CE"/>
                </a:solidFill>
              </a:rPr>
              <a:t>Brownian motion with drift — solved by calculus, a grid solver,</a:t>
            </a:r>
            <a:endParaRPr lang="en-US" sz="1900" dirty="0"/>
          </a:p>
          <a:p>
            <a:pPr indent="0" marL="0">
              <a:lnSpc>
                <a:spcPct val="120000"/>
              </a:lnSpc>
              <a:buNone/>
            </a:pPr>
            <a:r>
              <a:rPr lang="en-US" sz="1900" dirty="0">
                <a:solidFill>
                  <a:srgbClr val="B8C4CE"/>
                </a:solidFill>
              </a:rPr>
              <a:t>and 100,000 simulated particles. Validated in SQL.</a:t>
            </a:r>
            <a:endParaRPr lang="en-US" sz="1900" dirty="0"/>
          </a:p>
        </p:txBody>
      </p:sp>
      <p:sp>
        <p:nvSpPr>
          <p:cNvPr id="4" name="Shape 2"/>
          <p:cNvSpPr/>
          <p:nvPr/>
        </p:nvSpPr>
        <p:spPr>
          <a:xfrm>
            <a:off x="1554480" y="4206240"/>
            <a:ext cx="822960" cy="822960"/>
          </a:xfrm>
          <a:prstGeom prst="ellipse">
            <a:avLst/>
          </a:prstGeom>
          <a:solidFill>
            <a:srgbClr val="E9EFF4"/>
          </a:solidFill>
          <a:ln w="12700">
            <a:solidFill>
              <a:srgbClr val="C9D4DC"/>
            </a:solidFill>
            <a:prstDash val="solid"/>
          </a:ln>
        </p:spPr>
      </p:sp>
      <p:pic>
        <p:nvPicPr>
          <p:cNvPr id="5" name="Image 0" descr="/home/claude/fokker_planck/icons/fx.png">    </p:cNvPr>
          <p:cNvPicPr>
            <a:picLocks noChangeAspect="1"/>
          </p:cNvPicPr>
          <p:nvPr/>
        </p:nvPicPr>
        <p:blipFill>
          <a:blip r:embed="rId1"/>
          <a:stretch>
            <a:fillRect/>
          </a:stretch>
        </p:blipFill>
        <p:spPr>
          <a:xfrm>
            <a:off x="1755648" y="4407408"/>
            <a:ext cx="420624" cy="420624"/>
          </a:xfrm>
          <a:prstGeom prst="rect">
            <a:avLst/>
          </a:prstGeom>
        </p:spPr>
      </p:pic>
      <p:sp>
        <p:nvSpPr>
          <p:cNvPr id="6" name="Text 3"/>
          <p:cNvSpPr/>
          <p:nvPr/>
        </p:nvSpPr>
        <p:spPr>
          <a:xfrm>
            <a:off x="1051560" y="5120640"/>
            <a:ext cx="1828800" cy="548640"/>
          </a:xfrm>
          <a:prstGeom prst="rect">
            <a:avLst/>
          </a:prstGeom>
          <a:noFill/>
          <a:ln/>
        </p:spPr>
        <p:txBody>
          <a:bodyPr wrap="square" lIns="0" tIns="0" rIns="0" bIns="0" rtlCol="0" anchor="ctr"/>
          <a:lstStyle/>
          <a:p>
            <a:pPr algn="ctr" indent="0" marL="0">
              <a:lnSpc>
                <a:spcPct val="105000"/>
              </a:lnSpc>
              <a:buNone/>
            </a:pPr>
            <a:r>
              <a:rPr lang="en-US" sz="1400" dirty="0">
                <a:solidFill>
                  <a:srgbClr val="D8E2EA"/>
                </a:solidFill>
              </a:rPr>
              <a:t>Calculus</a:t>
            </a:r>
            <a:endParaRPr lang="en-US" sz="1400" dirty="0"/>
          </a:p>
        </p:txBody>
      </p:sp>
      <p:sp>
        <p:nvSpPr>
          <p:cNvPr id="7" name="Shape 4"/>
          <p:cNvSpPr/>
          <p:nvPr/>
        </p:nvSpPr>
        <p:spPr>
          <a:xfrm>
            <a:off x="4617720" y="4206240"/>
            <a:ext cx="822960" cy="822960"/>
          </a:xfrm>
          <a:prstGeom prst="ellipse">
            <a:avLst/>
          </a:prstGeom>
          <a:solidFill>
            <a:srgbClr val="E9EFF4"/>
          </a:solidFill>
          <a:ln w="12700">
            <a:solidFill>
              <a:srgbClr val="C9D4DC"/>
            </a:solidFill>
            <a:prstDash val="solid"/>
          </a:ln>
        </p:spPr>
      </p:sp>
      <p:pic>
        <p:nvPicPr>
          <p:cNvPr id="8" name="Image 1" descr="/home/claude/fokker_planck/icons/grid.png">    </p:cNvPr>
          <p:cNvPicPr>
            <a:picLocks noChangeAspect="1"/>
          </p:cNvPicPr>
          <p:nvPr/>
        </p:nvPicPr>
        <p:blipFill>
          <a:blip r:embed="rId2"/>
          <a:stretch>
            <a:fillRect/>
          </a:stretch>
        </p:blipFill>
        <p:spPr>
          <a:xfrm>
            <a:off x="4818888" y="4407408"/>
            <a:ext cx="420624" cy="420624"/>
          </a:xfrm>
          <a:prstGeom prst="rect">
            <a:avLst/>
          </a:prstGeom>
        </p:spPr>
      </p:pic>
      <p:sp>
        <p:nvSpPr>
          <p:cNvPr id="9" name="Text 5"/>
          <p:cNvSpPr/>
          <p:nvPr/>
        </p:nvSpPr>
        <p:spPr>
          <a:xfrm>
            <a:off x="4114800" y="5120640"/>
            <a:ext cx="1828800" cy="548640"/>
          </a:xfrm>
          <a:prstGeom prst="rect">
            <a:avLst/>
          </a:prstGeom>
          <a:noFill/>
          <a:ln/>
        </p:spPr>
        <p:txBody>
          <a:bodyPr wrap="square" lIns="0" tIns="0" rIns="0" bIns="0" rtlCol="0" anchor="ctr"/>
          <a:lstStyle/>
          <a:p>
            <a:pPr algn="ctr" indent="0" marL="0">
              <a:lnSpc>
                <a:spcPct val="105000"/>
              </a:lnSpc>
              <a:buNone/>
            </a:pPr>
            <a:r>
              <a:rPr lang="en-US" sz="1400" dirty="0">
                <a:solidFill>
                  <a:srgbClr val="D8E2EA"/>
                </a:solidFill>
              </a:rPr>
              <a:t>Grid solver</a:t>
            </a:r>
            <a:endParaRPr lang="en-US" sz="1400" dirty="0"/>
          </a:p>
        </p:txBody>
      </p:sp>
      <p:sp>
        <p:nvSpPr>
          <p:cNvPr id="10" name="Shape 6"/>
          <p:cNvSpPr/>
          <p:nvPr/>
        </p:nvSpPr>
        <p:spPr>
          <a:xfrm>
            <a:off x="7680960" y="4206240"/>
            <a:ext cx="822960" cy="822960"/>
          </a:xfrm>
          <a:prstGeom prst="ellipse">
            <a:avLst/>
          </a:prstGeom>
          <a:solidFill>
            <a:srgbClr val="E9EFF4"/>
          </a:solidFill>
          <a:ln w="12700">
            <a:solidFill>
              <a:srgbClr val="C9D4DC"/>
            </a:solidFill>
            <a:prstDash val="solid"/>
          </a:ln>
        </p:spPr>
      </p:sp>
      <p:pic>
        <p:nvPicPr>
          <p:cNvPr id="11" name="Image 2" descr="/home/claude/fokker_planck/icons/dice.png">    </p:cNvPr>
          <p:cNvPicPr>
            <a:picLocks noChangeAspect="1"/>
          </p:cNvPicPr>
          <p:nvPr/>
        </p:nvPicPr>
        <p:blipFill>
          <a:blip r:embed="rId3"/>
          <a:stretch>
            <a:fillRect/>
          </a:stretch>
        </p:blipFill>
        <p:spPr>
          <a:xfrm>
            <a:off x="7882128" y="4407408"/>
            <a:ext cx="420624" cy="420624"/>
          </a:xfrm>
          <a:prstGeom prst="rect">
            <a:avLst/>
          </a:prstGeom>
        </p:spPr>
      </p:pic>
      <p:sp>
        <p:nvSpPr>
          <p:cNvPr id="12" name="Text 7"/>
          <p:cNvSpPr/>
          <p:nvPr/>
        </p:nvSpPr>
        <p:spPr>
          <a:xfrm>
            <a:off x="7178040" y="5120640"/>
            <a:ext cx="1828800" cy="548640"/>
          </a:xfrm>
          <a:prstGeom prst="rect">
            <a:avLst/>
          </a:prstGeom>
          <a:noFill/>
          <a:ln/>
        </p:spPr>
        <p:txBody>
          <a:bodyPr wrap="square" lIns="0" tIns="0" rIns="0" bIns="0" rtlCol="0" anchor="ctr"/>
          <a:lstStyle/>
          <a:p>
            <a:pPr algn="ctr" indent="0" marL="0">
              <a:lnSpc>
                <a:spcPct val="105000"/>
              </a:lnSpc>
              <a:buNone/>
            </a:pPr>
            <a:r>
              <a:rPr lang="en-US" sz="1400" dirty="0">
                <a:solidFill>
                  <a:srgbClr val="D8E2EA"/>
                </a:solidFill>
              </a:rPr>
              <a:t>Monte Carlo</a:t>
            </a:r>
            <a:endParaRPr lang="en-US" sz="1400" dirty="0"/>
          </a:p>
        </p:txBody>
      </p:sp>
      <p:sp>
        <p:nvSpPr>
          <p:cNvPr id="13" name="Text 8"/>
          <p:cNvSpPr/>
          <p:nvPr/>
        </p:nvSpPr>
        <p:spPr>
          <a:xfrm>
            <a:off x="822960" y="5989320"/>
            <a:ext cx="10058400" cy="411480"/>
          </a:xfrm>
          <a:prstGeom prst="rect">
            <a:avLst/>
          </a:prstGeom>
          <a:noFill/>
          <a:ln/>
        </p:spPr>
        <p:txBody>
          <a:bodyPr wrap="square" lIns="0" tIns="0" rIns="0" bIns="0" rtlCol="0" anchor="ctr"/>
          <a:lstStyle/>
          <a:p>
            <a:pPr indent="0" marL="0">
              <a:buNone/>
            </a:pPr>
            <a:r>
              <a:rPr lang="en-US" sz="1400" dirty="0">
                <a:solidFill>
                  <a:srgbClr val="8FA3B0"/>
                </a:solidFill>
              </a:rPr>
              <a:t>Saad Ahmed Qureshi   ·   Data Processors   ·   27 July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686800" cy="292608"/>
          </a:xfrm>
          <a:prstGeom prst="rect">
            <a:avLst/>
          </a:prstGeom>
          <a:noFill/>
          <a:ln/>
        </p:spPr>
        <p:txBody>
          <a:bodyPr wrap="square" lIns="0" tIns="0" rIns="0" bIns="0" rtlCol="0" anchor="ctr"/>
          <a:lstStyle/>
          <a:p>
            <a:pPr indent="0" marL="0">
              <a:buNone/>
            </a:pPr>
            <a:r>
              <a:rPr lang="en-US" sz="1300" b="1" spc="200" kern="0" dirty="0">
                <a:solidFill>
                  <a:srgbClr val="16425B"/>
                </a:solidFill>
              </a:rPr>
              <a:t>01 · THE PROBLEM</a:t>
            </a:r>
            <a:endParaRPr lang="en-US" sz="1300" dirty="0"/>
          </a:p>
        </p:txBody>
      </p:sp>
      <p:sp>
        <p:nvSpPr>
          <p:cNvPr id="3" name="Text 1"/>
          <p:cNvSpPr/>
          <p:nvPr/>
        </p:nvSpPr>
        <p:spPr>
          <a:xfrm>
            <a:off x="548640" y="658368"/>
            <a:ext cx="10058400" cy="640080"/>
          </a:xfrm>
          <a:prstGeom prst="rect">
            <a:avLst/>
          </a:prstGeom>
          <a:noFill/>
          <a:ln/>
        </p:spPr>
        <p:txBody>
          <a:bodyPr wrap="square" lIns="0" tIns="0" rIns="0" bIns="0" rtlCol="0" anchor="ctr"/>
          <a:lstStyle/>
          <a:p>
            <a:pPr indent="0" marL="0">
              <a:buNone/>
            </a:pPr>
            <a:r>
              <a:rPr lang="en-US" sz="2900" b="1" dirty="0">
                <a:solidFill>
                  <a:srgbClr val="1A1A2E"/>
                </a:solidFill>
              </a:rPr>
              <a:t>A particle that drifts and jitters</a:t>
            </a:r>
            <a:endParaRPr lang="en-US" sz="2900" dirty="0"/>
          </a:p>
        </p:txBody>
      </p:sp>
      <p:sp>
        <p:nvSpPr>
          <p:cNvPr id="4" name="Shape 2"/>
          <p:cNvSpPr/>
          <p:nvPr/>
        </p:nvSpPr>
        <p:spPr>
          <a:xfrm>
            <a:off x="10972800" y="384048"/>
            <a:ext cx="713232" cy="713232"/>
          </a:xfrm>
          <a:prstGeom prst="roundRect">
            <a:avLst>
              <a:gd name="adj" fmla="val 17949"/>
            </a:avLst>
          </a:prstGeom>
          <a:solidFill>
            <a:srgbClr val="16425B"/>
          </a:solidFill>
          <a:ln w="12700">
            <a:solidFill>
              <a:srgbClr val="16425B"/>
            </a:solidFill>
            <a:prstDash val="solid"/>
          </a:ln>
        </p:spPr>
      </p:sp>
      <p:pic>
        <p:nvPicPr>
          <p:cNvPr id="5" name="Image 0" descr="/home/claude/fokker_planck/icons/target_w.png">    </p:cNvPr>
          <p:cNvPicPr>
            <a:picLocks noChangeAspect="1"/>
          </p:cNvPicPr>
          <p:nvPr/>
        </p:nvPicPr>
        <p:blipFill>
          <a:blip r:embed="rId1"/>
          <a:stretch>
            <a:fillRect/>
          </a:stretch>
        </p:blipFill>
        <p:spPr>
          <a:xfrm>
            <a:off x="11119104" y="530352"/>
            <a:ext cx="420624" cy="420624"/>
          </a:xfrm>
          <a:prstGeom prst="rect">
            <a:avLst/>
          </a:prstGeom>
        </p:spPr>
      </p:pic>
      <p:sp>
        <p:nvSpPr>
          <p:cNvPr id="6" name="Text 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A6B7A"/>
                </a:solidFill>
              </a:rPr>
              <a:t>02</a:t>
            </a:r>
            <a:endParaRPr lang="en-US" sz="1000" dirty="0"/>
          </a:p>
        </p:txBody>
      </p:sp>
      <p:sp>
        <p:nvSpPr>
          <p:cNvPr id="7" name="Text 4"/>
          <p:cNvSpPr/>
          <p:nvPr/>
        </p:nvSpPr>
        <p:spPr>
          <a:xfrm>
            <a:off x="640080" y="1600200"/>
            <a:ext cx="10881360" cy="777240"/>
          </a:xfrm>
          <a:prstGeom prst="rect">
            <a:avLst/>
          </a:prstGeom>
          <a:noFill/>
          <a:ln/>
        </p:spPr>
        <p:txBody>
          <a:bodyPr wrap="square" lIns="0" tIns="0" rIns="0" bIns="0" rtlCol="0" anchor="ctr"/>
          <a:lstStyle/>
          <a:p>
            <a:pPr indent="0" marL="0">
              <a:lnSpc>
                <a:spcPct val="125000"/>
              </a:lnSpc>
              <a:buNone/>
            </a:pPr>
            <a:r>
              <a:rPr lang="en-US" sz="1750" b="1" dirty="0">
                <a:solidFill>
                  <a:srgbClr val="16425B"/>
                </a:solidFill>
              </a:rPr>
              <a:t>Steady push (drift): </a:t>
            </a:r>
            <a:pPr indent="0" marL="0">
              <a:lnSpc>
                <a:spcPct val="125000"/>
              </a:lnSpc>
              <a:buNone/>
            </a:pPr>
            <a:r>
              <a:rPr lang="en-US" sz="1750" dirty="0">
                <a:solidFill>
                  <a:srgbClr val="1A1A2E"/>
                </a:solidFill>
              </a:rPr>
              <a:t>a breeze carries the particle at speed μ.    </a:t>
            </a:r>
            <a:pPr indent="0" marL="0">
              <a:lnSpc>
                <a:spcPct val="125000"/>
              </a:lnSpc>
              <a:buNone/>
            </a:pPr>
            <a:r>
              <a:rPr lang="en-US" sz="1750" b="1" dirty="0">
                <a:solidFill>
                  <a:srgbClr val="16425B"/>
                </a:solidFill>
              </a:rPr>
              <a:t>Random knocks (diffusion): </a:t>
            </a:r>
            <a:pPr indent="0" marL="0">
              <a:lnSpc>
                <a:spcPct val="125000"/>
              </a:lnSpc>
              <a:buNone/>
            </a:pPr>
            <a:r>
              <a:rPr lang="en-US" sz="1750" dirty="0">
                <a:solidFill>
                  <a:srgbClr val="1A1A2E"/>
                </a:solidFill>
              </a:rPr>
              <a:t>unpredictable jostling of strength σ.</a:t>
            </a:r>
            <a:endParaRPr lang="en-US" sz="1750" dirty="0"/>
          </a:p>
        </p:txBody>
      </p:sp>
      <p:sp>
        <p:nvSpPr>
          <p:cNvPr id="8" name="Text 5"/>
          <p:cNvSpPr/>
          <p:nvPr/>
        </p:nvSpPr>
        <p:spPr>
          <a:xfrm>
            <a:off x="640080" y="2468880"/>
            <a:ext cx="10881360" cy="411480"/>
          </a:xfrm>
          <a:prstGeom prst="rect">
            <a:avLst/>
          </a:prstGeom>
          <a:noFill/>
          <a:ln/>
        </p:spPr>
        <p:txBody>
          <a:bodyPr wrap="square" lIns="0" tIns="0" rIns="0" bIns="0" rtlCol="0" anchor="ctr"/>
          <a:lstStyle/>
          <a:p>
            <a:pPr indent="0" marL="0">
              <a:buNone/>
            </a:pPr>
            <a:r>
              <a:rPr lang="en-US" sz="1750" i="1" dirty="0">
                <a:solidFill>
                  <a:srgbClr val="1A1A2E"/>
                </a:solidFill>
              </a:rPr>
              <a:t>So the honest answer is a probability: where is the particle likely to be at time t?</a:t>
            </a:r>
            <a:endParaRPr lang="en-US" sz="1750" dirty="0"/>
          </a:p>
        </p:txBody>
      </p:sp>
      <p:sp>
        <p:nvSpPr>
          <p:cNvPr id="9" name="Shape 6"/>
          <p:cNvSpPr/>
          <p:nvPr/>
        </p:nvSpPr>
        <p:spPr>
          <a:xfrm>
            <a:off x="640080" y="3108960"/>
            <a:ext cx="10881360" cy="658368"/>
          </a:xfrm>
          <a:prstGeom prst="roundRect">
            <a:avLst>
              <a:gd name="adj" fmla="val 8333"/>
            </a:avLst>
          </a:prstGeom>
          <a:solidFill>
            <a:srgbClr val="F4F6F8"/>
          </a:solidFill>
          <a:ln w="12700">
            <a:solidFill>
              <a:srgbClr val="C9D4DC"/>
            </a:solidFill>
            <a:prstDash val="solid"/>
          </a:ln>
        </p:spPr>
      </p:sp>
      <p:sp>
        <p:nvSpPr>
          <p:cNvPr id="10" name="Text 7"/>
          <p:cNvSpPr/>
          <p:nvPr/>
        </p:nvSpPr>
        <p:spPr>
          <a:xfrm>
            <a:off x="868680" y="3108960"/>
            <a:ext cx="10424160" cy="658368"/>
          </a:xfrm>
          <a:prstGeom prst="rect">
            <a:avLst/>
          </a:prstGeom>
          <a:noFill/>
          <a:ln/>
        </p:spPr>
        <p:txBody>
          <a:bodyPr wrap="square" lIns="0" tIns="0" rIns="0" bIns="0" rtlCol="0" anchor="ctr"/>
          <a:lstStyle/>
          <a:p>
            <a:pPr algn="l" indent="0" marL="0">
              <a:lnSpc>
                <a:spcPct val="115000"/>
              </a:lnSpc>
              <a:buNone/>
            </a:pPr>
            <a:r>
              <a:rPr lang="en-US" sz="1600" dirty="0">
                <a:solidFill>
                  <a:srgbClr val="1A1A2E"/>
                </a:solidFill>
                <a:latin typeface="Consolas" pitchFamily="34" charset="0"/>
                <a:ea typeface="Consolas" pitchFamily="34" charset="-122"/>
                <a:cs typeface="Consolas" pitchFamily="34" charset="-120"/>
              </a:rPr>
              <a:t>One particle's rule (SDE):      dX = μ dt + σ dW</a:t>
            </a:r>
            <a:endParaRPr lang="en-US" sz="1600" dirty="0"/>
          </a:p>
        </p:txBody>
      </p:sp>
      <p:sp>
        <p:nvSpPr>
          <p:cNvPr id="11" name="Shape 8"/>
          <p:cNvSpPr/>
          <p:nvPr/>
        </p:nvSpPr>
        <p:spPr>
          <a:xfrm>
            <a:off x="640080" y="3950208"/>
            <a:ext cx="10881360" cy="658368"/>
          </a:xfrm>
          <a:prstGeom prst="roundRect">
            <a:avLst>
              <a:gd name="adj" fmla="val 8333"/>
            </a:avLst>
          </a:prstGeom>
          <a:solidFill>
            <a:srgbClr val="F4F6F8"/>
          </a:solidFill>
          <a:ln w="12700">
            <a:solidFill>
              <a:srgbClr val="C9D4DC"/>
            </a:solidFill>
            <a:prstDash val="solid"/>
          </a:ln>
        </p:spPr>
      </p:sp>
      <p:sp>
        <p:nvSpPr>
          <p:cNvPr id="12" name="Text 9"/>
          <p:cNvSpPr/>
          <p:nvPr/>
        </p:nvSpPr>
        <p:spPr>
          <a:xfrm>
            <a:off x="868680" y="3950208"/>
            <a:ext cx="10424160" cy="658368"/>
          </a:xfrm>
          <a:prstGeom prst="rect">
            <a:avLst/>
          </a:prstGeom>
          <a:noFill/>
          <a:ln/>
        </p:spPr>
        <p:txBody>
          <a:bodyPr wrap="square" lIns="0" tIns="0" rIns="0" bIns="0" rtlCol="0" anchor="ctr"/>
          <a:lstStyle/>
          <a:p>
            <a:pPr algn="l" indent="0" marL="0">
              <a:lnSpc>
                <a:spcPct val="115000"/>
              </a:lnSpc>
              <a:buNone/>
            </a:pPr>
            <a:r>
              <a:rPr lang="en-US" sz="1600" dirty="0">
                <a:solidFill>
                  <a:srgbClr val="1A1A2E"/>
                </a:solidFill>
                <a:latin typeface="Consolas" pitchFamily="34" charset="0"/>
                <a:ea typeface="Consolas" pitchFamily="34" charset="-122"/>
                <a:cs typeface="Consolas" pitchFamily="34" charset="-120"/>
              </a:rPr>
              <a:t>The whole cloud's rule (PDE):   ∂p/∂t = −μ ∂p/∂x + (σ²/2) ∂²p/∂x²</a:t>
            </a:r>
            <a:endParaRPr lang="en-US" sz="1600" dirty="0"/>
          </a:p>
        </p:txBody>
      </p:sp>
      <p:sp>
        <p:nvSpPr>
          <p:cNvPr id="13" name="Shape 10"/>
          <p:cNvSpPr/>
          <p:nvPr/>
        </p:nvSpPr>
        <p:spPr>
          <a:xfrm>
            <a:off x="640080" y="4983480"/>
            <a:ext cx="10881360" cy="1143000"/>
          </a:xfrm>
          <a:prstGeom prst="roundRect">
            <a:avLst>
              <a:gd name="adj" fmla="val 6400"/>
            </a:avLst>
          </a:prstGeom>
          <a:solidFill>
            <a:srgbClr val="F0F4F8"/>
          </a:solidFill>
          <a:ln w="12700">
            <a:solidFill>
              <a:srgbClr val="C9D4DC"/>
            </a:solidFill>
            <a:prstDash val="solid"/>
          </a:ln>
        </p:spPr>
      </p:sp>
      <p:sp>
        <p:nvSpPr>
          <p:cNvPr id="14" name="Text 11"/>
          <p:cNvSpPr/>
          <p:nvPr/>
        </p:nvSpPr>
        <p:spPr>
          <a:xfrm>
            <a:off x="868680" y="4983480"/>
            <a:ext cx="10424160" cy="1143000"/>
          </a:xfrm>
          <a:prstGeom prst="rect">
            <a:avLst/>
          </a:prstGeom>
          <a:noFill/>
          <a:ln/>
        </p:spPr>
        <p:txBody>
          <a:bodyPr wrap="square" lIns="0" tIns="0" rIns="0" bIns="0" rtlCol="0" anchor="ctr"/>
          <a:lstStyle/>
          <a:p>
            <a:pPr indent="0" marL="0">
              <a:lnSpc>
                <a:spcPct val="120000"/>
              </a:lnSpc>
              <a:buNone/>
            </a:pPr>
            <a:r>
              <a:rPr lang="en-US" sz="1650" b="1" dirty="0">
                <a:solidFill>
                  <a:srgbClr val="16425B"/>
                </a:solidFill>
              </a:rPr>
              <a:t>Why this problem?  </a:t>
            </a:r>
            <a:pPr indent="0" marL="0">
              <a:lnSpc>
                <a:spcPct val="120000"/>
              </a:lnSpc>
              <a:buNone/>
            </a:pPr>
            <a:r>
              <a:rPr lang="en-US" sz="1650" dirty="0">
                <a:solidFill>
                  <a:srgbClr val="1A1A2E"/>
                </a:solidFill>
              </a:rPr>
              <a:t>It has a known exact answer — a perfect calibration case. Any method that reproduces it here can be trusted on problems where nobody knows the answer.</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686800" cy="292608"/>
          </a:xfrm>
          <a:prstGeom prst="rect">
            <a:avLst/>
          </a:prstGeom>
          <a:noFill/>
          <a:ln/>
        </p:spPr>
        <p:txBody>
          <a:bodyPr wrap="square" lIns="0" tIns="0" rIns="0" bIns="0" rtlCol="0" anchor="ctr"/>
          <a:lstStyle/>
          <a:p>
            <a:pPr indent="0" marL="0">
              <a:buNone/>
            </a:pPr>
            <a:r>
              <a:rPr lang="en-US" sz="1300" b="1" spc="200" kern="0" dirty="0">
                <a:solidFill>
                  <a:srgbClr val="16425B"/>
                </a:solidFill>
              </a:rPr>
              <a:t>02 · THE EXACT ANSWER</a:t>
            </a:r>
            <a:endParaRPr lang="en-US" sz="1300" dirty="0"/>
          </a:p>
        </p:txBody>
      </p:sp>
      <p:sp>
        <p:nvSpPr>
          <p:cNvPr id="3" name="Text 1"/>
          <p:cNvSpPr/>
          <p:nvPr/>
        </p:nvSpPr>
        <p:spPr>
          <a:xfrm>
            <a:off x="548640" y="658368"/>
            <a:ext cx="10058400" cy="640080"/>
          </a:xfrm>
          <a:prstGeom prst="rect">
            <a:avLst/>
          </a:prstGeom>
          <a:noFill/>
          <a:ln/>
        </p:spPr>
        <p:txBody>
          <a:bodyPr wrap="square" lIns="0" tIns="0" rIns="0" bIns="0" rtlCol="0" anchor="ctr"/>
          <a:lstStyle/>
          <a:p>
            <a:pPr indent="0" marL="0">
              <a:buNone/>
            </a:pPr>
            <a:r>
              <a:rPr lang="en-US" sz="2900" b="1" dirty="0">
                <a:solidFill>
                  <a:srgbClr val="1A1A2E"/>
                </a:solidFill>
              </a:rPr>
              <a:t>A moving, spreading bell curve</a:t>
            </a:r>
            <a:endParaRPr lang="en-US" sz="2900" dirty="0"/>
          </a:p>
        </p:txBody>
      </p:sp>
      <p:sp>
        <p:nvSpPr>
          <p:cNvPr id="4" name="Shape 2"/>
          <p:cNvSpPr/>
          <p:nvPr/>
        </p:nvSpPr>
        <p:spPr>
          <a:xfrm>
            <a:off x="10972800" y="384048"/>
            <a:ext cx="713232" cy="713232"/>
          </a:xfrm>
          <a:prstGeom prst="roundRect">
            <a:avLst>
              <a:gd name="adj" fmla="val 17949"/>
            </a:avLst>
          </a:prstGeom>
          <a:solidFill>
            <a:srgbClr val="16425B"/>
          </a:solidFill>
          <a:ln w="12700">
            <a:solidFill>
              <a:srgbClr val="16425B"/>
            </a:solidFill>
            <a:prstDash val="solid"/>
          </a:ln>
        </p:spPr>
      </p:sp>
      <p:pic>
        <p:nvPicPr>
          <p:cNvPr id="5" name="Image 0" descr="/home/claude/fokker_planck/icons/fx_w.png">    </p:cNvPr>
          <p:cNvPicPr>
            <a:picLocks noChangeAspect="1"/>
          </p:cNvPicPr>
          <p:nvPr/>
        </p:nvPicPr>
        <p:blipFill>
          <a:blip r:embed="rId1"/>
          <a:stretch>
            <a:fillRect/>
          </a:stretch>
        </p:blipFill>
        <p:spPr>
          <a:xfrm>
            <a:off x="11119104" y="530352"/>
            <a:ext cx="420624" cy="420624"/>
          </a:xfrm>
          <a:prstGeom prst="rect">
            <a:avLst/>
          </a:prstGeom>
        </p:spPr>
      </p:pic>
      <p:sp>
        <p:nvSpPr>
          <p:cNvPr id="6" name="Text 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A6B7A"/>
                </a:solidFill>
              </a:rPr>
              <a:t>03</a:t>
            </a:r>
            <a:endParaRPr lang="en-US" sz="1000" dirty="0"/>
          </a:p>
        </p:txBody>
      </p:sp>
      <p:sp>
        <p:nvSpPr>
          <p:cNvPr id="7" name="Text 4"/>
          <p:cNvSpPr/>
          <p:nvPr/>
        </p:nvSpPr>
        <p:spPr>
          <a:xfrm>
            <a:off x="640080" y="1600200"/>
            <a:ext cx="10881360" cy="822960"/>
          </a:xfrm>
          <a:prstGeom prst="rect">
            <a:avLst/>
          </a:prstGeom>
          <a:noFill/>
          <a:ln/>
        </p:spPr>
        <p:txBody>
          <a:bodyPr wrap="square" lIns="0" tIns="0" rIns="0" bIns="0" rtlCol="0" anchor="ctr"/>
          <a:lstStyle/>
          <a:p>
            <a:pPr indent="0" marL="0">
              <a:lnSpc>
                <a:spcPct val="120000"/>
              </a:lnSpc>
              <a:buNone/>
            </a:pPr>
            <a:r>
              <a:rPr lang="en-US" sz="1750" dirty="0">
                <a:solidFill>
                  <a:srgbClr val="1A1A2E"/>
                </a:solidFill>
              </a:rPr>
              <a:t>Change to a frame moving with the drift (y = x − μt): the drift cancels, leaving the</a:t>
            </a:r>
            <a:endParaRPr lang="en-US" sz="1750" dirty="0"/>
          </a:p>
          <a:p>
            <a:pPr indent="0" marL="0">
              <a:lnSpc>
                <a:spcPct val="120000"/>
              </a:lnSpc>
              <a:buNone/>
            </a:pPr>
            <a:r>
              <a:rPr lang="en-US" sz="1750" dirty="0">
                <a:solidFill>
                  <a:srgbClr val="1A1A2E"/>
                </a:solidFill>
              </a:rPr>
              <a:t>classic heat equation — whose solution is a Gaussian (bell curve).</a:t>
            </a:r>
            <a:endParaRPr lang="en-US" sz="1750" dirty="0"/>
          </a:p>
        </p:txBody>
      </p:sp>
      <p:sp>
        <p:nvSpPr>
          <p:cNvPr id="8" name="Shape 5"/>
          <p:cNvSpPr/>
          <p:nvPr/>
        </p:nvSpPr>
        <p:spPr>
          <a:xfrm>
            <a:off x="640080" y="2606040"/>
            <a:ext cx="10881360" cy="713232"/>
          </a:xfrm>
          <a:prstGeom prst="roundRect">
            <a:avLst>
              <a:gd name="adj" fmla="val 7692"/>
            </a:avLst>
          </a:prstGeom>
          <a:solidFill>
            <a:srgbClr val="F4F6F8"/>
          </a:solidFill>
          <a:ln w="12700">
            <a:solidFill>
              <a:srgbClr val="C9D4DC"/>
            </a:solidFill>
            <a:prstDash val="solid"/>
          </a:ln>
        </p:spPr>
      </p:sp>
      <p:sp>
        <p:nvSpPr>
          <p:cNvPr id="9" name="Text 6"/>
          <p:cNvSpPr/>
          <p:nvPr/>
        </p:nvSpPr>
        <p:spPr>
          <a:xfrm>
            <a:off x="868680" y="2606040"/>
            <a:ext cx="10424160" cy="713232"/>
          </a:xfrm>
          <a:prstGeom prst="rect">
            <a:avLst/>
          </a:prstGeom>
          <a:noFill/>
          <a:ln/>
        </p:spPr>
        <p:txBody>
          <a:bodyPr wrap="square" lIns="0" tIns="0" rIns="0" bIns="0" rtlCol="0" anchor="ctr"/>
          <a:lstStyle/>
          <a:p>
            <a:pPr algn="l" indent="0" marL="0">
              <a:lnSpc>
                <a:spcPct val="115000"/>
              </a:lnSpc>
              <a:buNone/>
            </a:pPr>
            <a:r>
              <a:rPr lang="en-US" sz="1800" dirty="0">
                <a:solidFill>
                  <a:srgbClr val="1A1A2E"/>
                </a:solidFill>
                <a:latin typeface="Consolas" pitchFamily="34" charset="0"/>
                <a:ea typeface="Consolas" pitchFamily="34" charset="-122"/>
                <a:cs typeface="Consolas" pitchFamily="34" charset="-120"/>
              </a:rPr>
              <a:t>p(x, t)  =  Normal( mean = μt ,  variance = σ²t )</a:t>
            </a:r>
            <a:endParaRPr lang="en-US" sz="1800" dirty="0"/>
          </a:p>
        </p:txBody>
      </p:sp>
      <p:sp>
        <p:nvSpPr>
          <p:cNvPr id="10" name="Text 7"/>
          <p:cNvSpPr/>
          <p:nvPr/>
        </p:nvSpPr>
        <p:spPr>
          <a:xfrm>
            <a:off x="868680" y="3611880"/>
            <a:ext cx="10515600" cy="150876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A1A2E"/>
                </a:solidFill>
              </a:rPr>
              <a:t>Centre drifts at μt — the most likely position moves steadily with the breeze.</a:t>
            </a:r>
            <a:endParaRPr lang="en-US" sz="1700" dirty="0"/>
          </a:p>
          <a:p>
            <a:pPr marL="342900" indent="-342900">
              <a:spcAft>
                <a:spcPts val="1000"/>
              </a:spcAft>
              <a:buSzPct val="100000"/>
              <a:buChar char="•"/>
            </a:pPr>
            <a:r>
              <a:rPr lang="en-US" sz="1700" dirty="0">
                <a:solidFill>
                  <a:srgbClr val="1A1A2E"/>
                </a:solidFill>
              </a:rPr>
              <a:t>Width grows like √t — twice the uncertainty takes four times as long.</a:t>
            </a:r>
            <a:endParaRPr lang="en-US" sz="1700" dirty="0"/>
          </a:p>
          <a:p>
            <a:pPr marL="342900" indent="-342900">
              <a:buSzPct val="100000"/>
              <a:buChar char="•"/>
            </a:pPr>
            <a:r>
              <a:rPr lang="en-US" sz="1700" dirty="0">
                <a:solidFill>
                  <a:srgbClr val="1A1A2E"/>
                </a:solidFill>
              </a:rPr>
              <a:t>Cross-checked independently: integrating the SDE directly gives the same Gaussian.</a:t>
            </a:r>
            <a:endParaRPr lang="en-US" sz="1700" dirty="0"/>
          </a:p>
        </p:txBody>
      </p:sp>
      <p:sp>
        <p:nvSpPr>
          <p:cNvPr id="11" name="Text 8"/>
          <p:cNvSpPr/>
          <p:nvPr/>
        </p:nvSpPr>
        <p:spPr>
          <a:xfrm>
            <a:off x="640080" y="5440680"/>
            <a:ext cx="10881360" cy="457200"/>
          </a:xfrm>
          <a:prstGeom prst="rect">
            <a:avLst/>
          </a:prstGeom>
          <a:noFill/>
          <a:ln/>
        </p:spPr>
        <p:txBody>
          <a:bodyPr wrap="square" lIns="0" tIns="0" rIns="0" bIns="0" rtlCol="0" anchor="ctr"/>
          <a:lstStyle/>
          <a:p>
            <a:pPr indent="0" marL="0">
              <a:buNone/>
            </a:pPr>
            <a:r>
              <a:rPr lang="en-US" sz="1650" b="1" dirty="0">
                <a:solidFill>
                  <a:srgbClr val="16425B"/>
                </a:solidFill>
              </a:rPr>
              <a:t>This is the ground truth every other method is measured against.   </a:t>
            </a:r>
            <a:pPr indent="0" marL="0">
              <a:buNone/>
            </a:pPr>
            <a:r>
              <a:rPr lang="en-US" sz="1650" u="sng" dirty="0">
                <a:solidFill>
                  <a:srgbClr val="16425B"/>
                </a:solidFill>
                <a:hlinkClick r:id="rId2" action="ppaction://hlinksldjump" tooltip="">
                  <a:extLst>
                    <a:ext uri="{A12FA001-AC4F-418D-AE19-62706E023703}">
                      <ahyp:hlinkClr xmlns:ahyp="http://schemas.microsoft.com/office/drawing/2018/hyperlinkcolor" val="tx"/>
                    </a:ext>
                  </a:extLst>
                </a:hlinkClick>
              </a:rPr>
              <a:t>Full derivation → appendix</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686800" cy="292608"/>
          </a:xfrm>
          <a:prstGeom prst="rect">
            <a:avLst/>
          </a:prstGeom>
          <a:noFill/>
          <a:ln/>
        </p:spPr>
        <p:txBody>
          <a:bodyPr wrap="square" lIns="0" tIns="0" rIns="0" bIns="0" rtlCol="0" anchor="ctr"/>
          <a:lstStyle/>
          <a:p>
            <a:pPr indent="0" marL="0">
              <a:buNone/>
            </a:pPr>
            <a:r>
              <a:rPr lang="en-US" sz="1300" b="1" spc="200" kern="0" dirty="0">
                <a:solidFill>
                  <a:srgbClr val="16425B"/>
                </a:solidFill>
              </a:rPr>
              <a:t>03 · SYSTEM DESIGN</a:t>
            </a:r>
            <a:endParaRPr lang="en-US" sz="1300" dirty="0"/>
          </a:p>
        </p:txBody>
      </p:sp>
      <p:sp>
        <p:nvSpPr>
          <p:cNvPr id="3" name="Text 1"/>
          <p:cNvSpPr/>
          <p:nvPr/>
        </p:nvSpPr>
        <p:spPr>
          <a:xfrm>
            <a:off x="548640" y="658368"/>
            <a:ext cx="10058400" cy="640080"/>
          </a:xfrm>
          <a:prstGeom prst="rect">
            <a:avLst/>
          </a:prstGeom>
          <a:noFill/>
          <a:ln/>
        </p:spPr>
        <p:txBody>
          <a:bodyPr wrap="square" lIns="0" tIns="0" rIns="0" bIns="0" rtlCol="0" anchor="ctr"/>
          <a:lstStyle/>
          <a:p>
            <a:pPr indent="0" marL="0">
              <a:buNone/>
            </a:pPr>
            <a:r>
              <a:rPr lang="en-US" sz="2900" b="1" dirty="0">
                <a:solidFill>
                  <a:srgbClr val="1A1A2E"/>
                </a:solidFill>
              </a:rPr>
              <a:t>Compute, persist, verify</a:t>
            </a:r>
            <a:endParaRPr lang="en-US" sz="2900" dirty="0"/>
          </a:p>
        </p:txBody>
      </p:sp>
      <p:sp>
        <p:nvSpPr>
          <p:cNvPr id="4" name="Shape 2"/>
          <p:cNvSpPr/>
          <p:nvPr/>
        </p:nvSpPr>
        <p:spPr>
          <a:xfrm>
            <a:off x="10972800" y="384048"/>
            <a:ext cx="713232" cy="713232"/>
          </a:xfrm>
          <a:prstGeom prst="roundRect">
            <a:avLst>
              <a:gd name="adj" fmla="val 17949"/>
            </a:avLst>
          </a:prstGeom>
          <a:solidFill>
            <a:srgbClr val="16425B"/>
          </a:solidFill>
          <a:ln w="12700">
            <a:solidFill>
              <a:srgbClr val="16425B"/>
            </a:solidFill>
            <a:prstDash val="solid"/>
          </a:ln>
        </p:spPr>
      </p:sp>
      <p:pic>
        <p:nvPicPr>
          <p:cNvPr id="5" name="Image 0" descr="/home/claude/fokker_planck/icons/layers_w.png">    </p:cNvPr>
          <p:cNvPicPr>
            <a:picLocks noChangeAspect="1"/>
          </p:cNvPicPr>
          <p:nvPr/>
        </p:nvPicPr>
        <p:blipFill>
          <a:blip r:embed="rId1"/>
          <a:stretch>
            <a:fillRect/>
          </a:stretch>
        </p:blipFill>
        <p:spPr>
          <a:xfrm>
            <a:off x="11119104" y="530352"/>
            <a:ext cx="420624" cy="420624"/>
          </a:xfrm>
          <a:prstGeom prst="rect">
            <a:avLst/>
          </a:prstGeom>
        </p:spPr>
      </p:pic>
      <p:sp>
        <p:nvSpPr>
          <p:cNvPr id="6" name="Text 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A6B7A"/>
                </a:solidFill>
              </a:rPr>
              <a:t>04</a:t>
            </a:r>
            <a:endParaRPr lang="en-US" sz="1000" dirty="0"/>
          </a:p>
        </p:txBody>
      </p:sp>
      <p:sp>
        <p:nvSpPr>
          <p:cNvPr id="7" name="Shape 4"/>
          <p:cNvSpPr/>
          <p:nvPr/>
        </p:nvSpPr>
        <p:spPr>
          <a:xfrm>
            <a:off x="548640" y="1554480"/>
            <a:ext cx="3200400" cy="1783080"/>
          </a:xfrm>
          <a:prstGeom prst="roundRect">
            <a:avLst>
              <a:gd name="adj" fmla="val 4103"/>
            </a:avLst>
          </a:prstGeom>
          <a:solidFill>
            <a:srgbClr val="FFFFFF"/>
          </a:solidFill>
          <a:ln w="12700">
            <a:solidFill>
              <a:srgbClr val="C9D4DC"/>
            </a:solidFill>
            <a:prstDash val="solid"/>
          </a:ln>
          <a:effectLst>
            <a:outerShdw sx="100000" sy="100000" kx="0" ky="0" algn="bl" rotWithShape="0" blurRad="50800" dist="25400" dir="5400000">
              <a:srgbClr val="888888">
                <a:alpha val="16000"/>
              </a:srgbClr>
            </a:outerShdw>
          </a:effectLst>
        </p:spPr>
      </p:sp>
      <p:sp>
        <p:nvSpPr>
          <p:cNvPr id="8" name="Text 5"/>
          <p:cNvSpPr/>
          <p:nvPr/>
        </p:nvSpPr>
        <p:spPr>
          <a:xfrm>
            <a:off x="713232" y="1645920"/>
            <a:ext cx="2871216" cy="347472"/>
          </a:xfrm>
          <a:prstGeom prst="rect">
            <a:avLst/>
          </a:prstGeom>
          <a:noFill/>
          <a:ln/>
        </p:spPr>
        <p:txBody>
          <a:bodyPr wrap="square" lIns="0" tIns="0" rIns="0" bIns="0" rtlCol="0" anchor="ctr"/>
          <a:lstStyle/>
          <a:p>
            <a:pPr indent="0" marL="0">
              <a:buNone/>
            </a:pPr>
            <a:r>
              <a:rPr lang="en-US" sz="1550" b="1" dirty="0">
                <a:solidFill>
                  <a:srgbClr val="16425B"/>
                </a:solidFill>
              </a:rPr>
              <a:t>fokker_planck.py</a:t>
            </a:r>
            <a:endParaRPr lang="en-US" sz="1550" dirty="0"/>
          </a:p>
        </p:txBody>
      </p:sp>
      <p:sp>
        <p:nvSpPr>
          <p:cNvPr id="9" name="Text 6"/>
          <p:cNvSpPr/>
          <p:nvPr/>
        </p:nvSpPr>
        <p:spPr>
          <a:xfrm>
            <a:off x="713232" y="2011680"/>
            <a:ext cx="2871216" cy="1234440"/>
          </a:xfrm>
          <a:prstGeom prst="rect">
            <a:avLst/>
          </a:prstGeom>
          <a:noFill/>
          <a:ln/>
        </p:spPr>
        <p:txBody>
          <a:bodyPr wrap="square" lIns="0" tIns="0" rIns="0" bIns="0" rtlCol="0" anchor="t"/>
          <a:lstStyle/>
          <a:p>
            <a:pPr indent="0" marL="0">
              <a:lnSpc>
                <a:spcPct val="110000"/>
              </a:lnSpc>
              <a:buNone/>
            </a:pPr>
            <a:r>
              <a:rPr lang="en-US" sz="1200" dirty="0">
                <a:solidFill>
                  <a:srgbClr val="1A1A2E"/>
                </a:solidFill>
              </a:rPr>
              <a:t>Calculation module</a:t>
            </a:r>
            <a:endParaRPr lang="en-US" sz="1200" dirty="0"/>
          </a:p>
          <a:p>
            <a:pPr indent="0" marL="0">
              <a:lnSpc>
                <a:spcPct val="110000"/>
              </a:lnSpc>
              <a:buNone/>
            </a:pPr>
            <a:r>
              <a:rPr lang="en-US" sz="1200" dirty="0">
                <a:solidFill>
                  <a:srgbClr val="1A1A2E"/>
                </a:solidFill>
              </a:rPr>
              <a:t>• analytical density</a:t>
            </a:r>
            <a:endParaRPr lang="en-US" sz="1200" dirty="0"/>
          </a:p>
          <a:p>
            <a:pPr indent="0" marL="0">
              <a:lnSpc>
                <a:spcPct val="110000"/>
              </a:lnSpc>
              <a:buNone/>
            </a:pPr>
            <a:r>
              <a:rPr lang="en-US" sz="1200" dirty="0">
                <a:solidFill>
                  <a:srgbClr val="1A1A2E"/>
                </a:solidFill>
              </a:rPr>
              <a:t>• grid (FD) solver</a:t>
            </a:r>
            <a:endParaRPr lang="en-US" sz="1200" dirty="0"/>
          </a:p>
          <a:p>
            <a:pPr indent="0" marL="0">
              <a:lnSpc>
                <a:spcPct val="110000"/>
              </a:lnSpc>
              <a:buNone/>
            </a:pPr>
            <a:r>
              <a:rPr lang="en-US" sz="1200" dirty="0">
                <a:solidFill>
                  <a:srgbClr val="1A1A2E"/>
                </a:solidFill>
              </a:rPr>
              <a:t>• Monte Carlo</a:t>
            </a:r>
            <a:endParaRPr lang="en-US" sz="1200" dirty="0"/>
          </a:p>
          <a:p>
            <a:pPr indent="0" marL="0">
              <a:lnSpc>
                <a:spcPct val="110000"/>
              </a:lnSpc>
              <a:buNone/>
            </a:pPr>
            <a:r>
              <a:rPr lang="en-US" sz="1200" dirty="0">
                <a:solidFill>
                  <a:srgbClr val="1A1A2E"/>
                </a:solidFill>
              </a:rPr>
              <a:t>Pure functions — no I/O, no side effects</a:t>
            </a:r>
            <a:endParaRPr lang="en-US" sz="1200" dirty="0"/>
          </a:p>
        </p:txBody>
      </p:sp>
      <p:sp>
        <p:nvSpPr>
          <p:cNvPr id="10" name="Shape 7"/>
          <p:cNvSpPr/>
          <p:nvPr/>
        </p:nvSpPr>
        <p:spPr>
          <a:xfrm>
            <a:off x="4526280" y="1554480"/>
            <a:ext cx="3200400" cy="1783080"/>
          </a:xfrm>
          <a:prstGeom prst="roundRect">
            <a:avLst>
              <a:gd name="adj" fmla="val 4103"/>
            </a:avLst>
          </a:prstGeom>
          <a:solidFill>
            <a:srgbClr val="FFFFFF"/>
          </a:solidFill>
          <a:ln w="12700">
            <a:solidFill>
              <a:srgbClr val="C9D4DC"/>
            </a:solidFill>
            <a:prstDash val="solid"/>
          </a:ln>
          <a:effectLst>
            <a:outerShdw sx="100000" sy="100000" kx="0" ky="0" algn="bl" rotWithShape="0" blurRad="50800" dist="25400" dir="5400000">
              <a:srgbClr val="888888">
                <a:alpha val="16000"/>
              </a:srgbClr>
            </a:outerShdw>
          </a:effectLst>
        </p:spPr>
      </p:sp>
      <p:sp>
        <p:nvSpPr>
          <p:cNvPr id="11" name="Text 8"/>
          <p:cNvSpPr/>
          <p:nvPr/>
        </p:nvSpPr>
        <p:spPr>
          <a:xfrm>
            <a:off x="4690872" y="1645920"/>
            <a:ext cx="2871216" cy="347472"/>
          </a:xfrm>
          <a:prstGeom prst="rect">
            <a:avLst/>
          </a:prstGeom>
          <a:noFill/>
          <a:ln/>
        </p:spPr>
        <p:txBody>
          <a:bodyPr wrap="square" lIns="0" tIns="0" rIns="0" bIns="0" rtlCol="0" anchor="ctr"/>
          <a:lstStyle/>
          <a:p>
            <a:pPr indent="0" marL="0">
              <a:buNone/>
            </a:pPr>
            <a:r>
              <a:rPr lang="en-US" sz="1550" b="1" dirty="0">
                <a:solidFill>
                  <a:srgbClr val="16425B"/>
                </a:solidFill>
              </a:rPr>
              <a:t>experiments.py</a:t>
            </a:r>
            <a:endParaRPr lang="en-US" sz="1550" dirty="0"/>
          </a:p>
        </p:txBody>
      </p:sp>
      <p:sp>
        <p:nvSpPr>
          <p:cNvPr id="12" name="Text 9"/>
          <p:cNvSpPr/>
          <p:nvPr/>
        </p:nvSpPr>
        <p:spPr>
          <a:xfrm>
            <a:off x="4690872" y="2011680"/>
            <a:ext cx="2871216" cy="1234440"/>
          </a:xfrm>
          <a:prstGeom prst="rect">
            <a:avLst/>
          </a:prstGeom>
          <a:noFill/>
          <a:ln/>
        </p:spPr>
        <p:txBody>
          <a:bodyPr wrap="square" lIns="0" tIns="0" rIns="0" bIns="0" rtlCol="0" anchor="t"/>
          <a:lstStyle/>
          <a:p>
            <a:pPr indent="0" marL="0">
              <a:lnSpc>
                <a:spcPct val="110000"/>
              </a:lnSpc>
              <a:buNone/>
            </a:pPr>
            <a:r>
              <a:rPr lang="en-US" sz="1200" dirty="0">
                <a:solidFill>
                  <a:srgbClr val="1A1A2E"/>
                </a:solidFill>
              </a:rPr>
              <a:t>Orchestrator</a:t>
            </a:r>
            <a:endParaRPr lang="en-US" sz="1200" dirty="0"/>
          </a:p>
          <a:p>
            <a:pPr indent="0" marL="0">
              <a:lnSpc>
                <a:spcPct val="110000"/>
              </a:lnSpc>
              <a:buNone/>
            </a:pPr>
            <a:r>
              <a:rPr lang="en-US" sz="1200" dirty="0">
                <a:solidFill>
                  <a:srgbClr val="1A1A2E"/>
                </a:solidFill>
              </a:rPr>
              <a:t>Runs parameter sweeps, logs every run — including the deliberate failures</a:t>
            </a:r>
            <a:endParaRPr lang="en-US" sz="1200" dirty="0"/>
          </a:p>
        </p:txBody>
      </p:sp>
      <p:sp>
        <p:nvSpPr>
          <p:cNvPr id="13" name="Shape 10"/>
          <p:cNvSpPr/>
          <p:nvPr/>
        </p:nvSpPr>
        <p:spPr>
          <a:xfrm>
            <a:off x="8503920" y="1554480"/>
            <a:ext cx="3200400" cy="1783080"/>
          </a:xfrm>
          <a:prstGeom prst="roundRect">
            <a:avLst>
              <a:gd name="adj" fmla="val 4103"/>
            </a:avLst>
          </a:prstGeom>
          <a:solidFill>
            <a:srgbClr val="FFFFFF"/>
          </a:solidFill>
          <a:ln w="12700">
            <a:solidFill>
              <a:srgbClr val="C9D4DC"/>
            </a:solidFill>
            <a:prstDash val="solid"/>
          </a:ln>
          <a:effectLst>
            <a:outerShdw sx="100000" sy="100000" kx="0" ky="0" algn="bl" rotWithShape="0" blurRad="50800" dist="25400" dir="5400000">
              <a:srgbClr val="888888">
                <a:alpha val="16000"/>
              </a:srgbClr>
            </a:outerShdw>
          </a:effectLst>
        </p:spPr>
      </p:sp>
      <p:sp>
        <p:nvSpPr>
          <p:cNvPr id="14" name="Text 11"/>
          <p:cNvSpPr/>
          <p:nvPr/>
        </p:nvSpPr>
        <p:spPr>
          <a:xfrm>
            <a:off x="8668512" y="1645920"/>
            <a:ext cx="2871216" cy="347472"/>
          </a:xfrm>
          <a:prstGeom prst="rect">
            <a:avLst/>
          </a:prstGeom>
          <a:noFill/>
          <a:ln/>
        </p:spPr>
        <p:txBody>
          <a:bodyPr wrap="square" lIns="0" tIns="0" rIns="0" bIns="0" rtlCol="0" anchor="ctr"/>
          <a:lstStyle/>
          <a:p>
            <a:pPr indent="0" marL="0">
              <a:buNone/>
            </a:pPr>
            <a:r>
              <a:rPr lang="en-US" sz="1550" b="1" dirty="0">
                <a:solidFill>
                  <a:srgbClr val="16425B"/>
                </a:solidFill>
              </a:rPr>
              <a:t>results.db  (SQLite)</a:t>
            </a:r>
            <a:endParaRPr lang="en-US" sz="1550" dirty="0"/>
          </a:p>
        </p:txBody>
      </p:sp>
      <p:sp>
        <p:nvSpPr>
          <p:cNvPr id="15" name="Text 12"/>
          <p:cNvSpPr/>
          <p:nvPr/>
        </p:nvSpPr>
        <p:spPr>
          <a:xfrm>
            <a:off x="8668512" y="2011680"/>
            <a:ext cx="2871216" cy="1234440"/>
          </a:xfrm>
          <a:prstGeom prst="rect">
            <a:avLst/>
          </a:prstGeom>
          <a:noFill/>
          <a:ln/>
        </p:spPr>
        <p:txBody>
          <a:bodyPr wrap="square" lIns="0" tIns="0" rIns="0" bIns="0" rtlCol="0" anchor="t"/>
          <a:lstStyle/>
          <a:p>
            <a:pPr indent="0" marL="0">
              <a:lnSpc>
                <a:spcPct val="110000"/>
              </a:lnSpc>
              <a:buNone/>
            </a:pPr>
            <a:r>
              <a:rPr lang="en-US" sz="1200" dirty="0">
                <a:solidFill>
                  <a:srgbClr val="1A1A2E"/>
                </a:solidFill>
              </a:rPr>
              <a:t>The logbook</a:t>
            </a:r>
            <a:endParaRPr lang="en-US" sz="1200" dirty="0"/>
          </a:p>
          <a:p>
            <a:pPr indent="0" marL="0">
              <a:lnSpc>
                <a:spcPct val="110000"/>
              </a:lnSpc>
              <a:buNone/>
            </a:pPr>
            <a:r>
              <a:rPr lang="en-US" sz="1200" dirty="0">
                <a:solidFill>
                  <a:srgbClr val="1A1A2E"/>
                </a:solidFill>
              </a:rPr>
              <a:t>One row per experiment: settings, results, errors, stability flag, runtime</a:t>
            </a:r>
            <a:endParaRPr lang="en-US" sz="1200" dirty="0"/>
          </a:p>
        </p:txBody>
      </p:sp>
      <p:sp>
        <p:nvSpPr>
          <p:cNvPr id="16" name="Shape 13"/>
          <p:cNvSpPr/>
          <p:nvPr/>
        </p:nvSpPr>
        <p:spPr>
          <a:xfrm>
            <a:off x="3794760" y="2441448"/>
            <a:ext cx="685800" cy="0"/>
          </a:xfrm>
          <a:prstGeom prst="line">
            <a:avLst/>
          </a:prstGeom>
          <a:noFill/>
          <a:ln w="28575">
            <a:solidFill>
              <a:srgbClr val="5A6B7A"/>
            </a:solidFill>
            <a:prstDash val="solid"/>
            <a:tailEnd type="triangle"/>
          </a:ln>
        </p:spPr>
      </p:sp>
      <p:sp>
        <p:nvSpPr>
          <p:cNvPr id="17" name="Shape 14"/>
          <p:cNvSpPr/>
          <p:nvPr/>
        </p:nvSpPr>
        <p:spPr>
          <a:xfrm>
            <a:off x="7772400" y="2441448"/>
            <a:ext cx="685800" cy="0"/>
          </a:xfrm>
          <a:prstGeom prst="line">
            <a:avLst/>
          </a:prstGeom>
          <a:noFill/>
          <a:ln w="28575">
            <a:solidFill>
              <a:srgbClr val="5A6B7A"/>
            </a:solidFill>
            <a:prstDash val="solid"/>
            <a:tailEnd type="triangle"/>
          </a:ln>
        </p:spPr>
      </p:sp>
      <p:sp>
        <p:nvSpPr>
          <p:cNvPr id="18" name="Shape 15"/>
          <p:cNvSpPr/>
          <p:nvPr/>
        </p:nvSpPr>
        <p:spPr>
          <a:xfrm>
            <a:off x="4526280" y="3703320"/>
            <a:ext cx="3200400" cy="1280160"/>
          </a:xfrm>
          <a:prstGeom prst="roundRect">
            <a:avLst>
              <a:gd name="adj" fmla="val 5714"/>
            </a:avLst>
          </a:prstGeom>
          <a:solidFill>
            <a:srgbClr val="F0F7F1"/>
          </a:solidFill>
          <a:ln w="12700">
            <a:solidFill>
              <a:srgbClr val="C9D4DC"/>
            </a:solidFill>
            <a:prstDash val="solid"/>
          </a:ln>
          <a:effectLst>
            <a:outerShdw sx="100000" sy="100000" kx="0" ky="0" algn="bl" rotWithShape="0" blurRad="50800" dist="25400" dir="5400000">
              <a:srgbClr val="888888">
                <a:alpha val="16000"/>
              </a:srgbClr>
            </a:outerShdw>
          </a:effectLst>
        </p:spPr>
      </p:sp>
      <p:sp>
        <p:nvSpPr>
          <p:cNvPr id="19" name="Text 16"/>
          <p:cNvSpPr/>
          <p:nvPr/>
        </p:nvSpPr>
        <p:spPr>
          <a:xfrm>
            <a:off x="4690872" y="3794760"/>
            <a:ext cx="2871216" cy="347472"/>
          </a:xfrm>
          <a:prstGeom prst="rect">
            <a:avLst/>
          </a:prstGeom>
          <a:noFill/>
          <a:ln/>
        </p:spPr>
        <p:txBody>
          <a:bodyPr wrap="square" lIns="0" tIns="0" rIns="0" bIns="0" rtlCol="0" anchor="ctr"/>
          <a:lstStyle/>
          <a:p>
            <a:pPr indent="0" marL="0">
              <a:buNone/>
            </a:pPr>
            <a:r>
              <a:rPr lang="en-US" sz="1550" b="1" dirty="0">
                <a:solidFill>
                  <a:srgbClr val="16425B"/>
                </a:solidFill>
              </a:rPr>
              <a:t>test_fokker_planck.py</a:t>
            </a:r>
            <a:endParaRPr lang="en-US" sz="1550" dirty="0"/>
          </a:p>
        </p:txBody>
      </p:sp>
      <p:sp>
        <p:nvSpPr>
          <p:cNvPr id="20" name="Text 17"/>
          <p:cNvSpPr/>
          <p:nvPr/>
        </p:nvSpPr>
        <p:spPr>
          <a:xfrm>
            <a:off x="4690872" y="4160520"/>
            <a:ext cx="2871216" cy="731520"/>
          </a:xfrm>
          <a:prstGeom prst="rect">
            <a:avLst/>
          </a:prstGeom>
          <a:noFill/>
          <a:ln/>
        </p:spPr>
        <p:txBody>
          <a:bodyPr wrap="square" lIns="0" tIns="0" rIns="0" bIns="0" rtlCol="0" anchor="t"/>
          <a:lstStyle/>
          <a:p>
            <a:pPr indent="0" marL="0">
              <a:lnSpc>
                <a:spcPct val="110000"/>
              </a:lnSpc>
              <a:buNone/>
            </a:pPr>
            <a:r>
              <a:rPr lang="en-US" sz="1200" dirty="0">
                <a:solidFill>
                  <a:srgbClr val="1A1A2E"/>
                </a:solidFill>
              </a:rPr>
              <a:t>Quality control</a:t>
            </a:r>
            <a:endParaRPr lang="en-US" sz="1200" dirty="0"/>
          </a:p>
          <a:p>
            <a:pPr indent="0" marL="0">
              <a:lnSpc>
                <a:spcPct val="110000"/>
              </a:lnSpc>
              <a:buNone/>
            </a:pPr>
            <a:r>
              <a:rPr lang="en-US" sz="1200" dirty="0">
                <a:solidFill>
                  <a:srgbClr val="1A1A2E"/>
                </a:solidFill>
              </a:rPr>
              <a:t>5 automated checks that try to prove the maths wrong</a:t>
            </a:r>
            <a:endParaRPr lang="en-US" sz="1200" dirty="0"/>
          </a:p>
        </p:txBody>
      </p:sp>
      <p:sp>
        <p:nvSpPr>
          <p:cNvPr id="21" name="Shape 18"/>
          <p:cNvSpPr/>
          <p:nvPr/>
        </p:nvSpPr>
        <p:spPr>
          <a:xfrm>
            <a:off x="8503920" y="3703320"/>
            <a:ext cx="3200400" cy="1280160"/>
          </a:xfrm>
          <a:prstGeom prst="roundRect">
            <a:avLst>
              <a:gd name="adj" fmla="val 5714"/>
            </a:avLst>
          </a:prstGeom>
          <a:solidFill>
            <a:srgbClr val="F0F4F8"/>
          </a:solidFill>
          <a:ln w="12700">
            <a:solidFill>
              <a:srgbClr val="C9D4DC"/>
            </a:solidFill>
            <a:prstDash val="solid"/>
          </a:ln>
          <a:effectLst>
            <a:outerShdw sx="100000" sy="100000" kx="0" ky="0" algn="bl" rotWithShape="0" blurRad="50800" dist="25400" dir="5400000">
              <a:srgbClr val="888888">
                <a:alpha val="16000"/>
              </a:srgbClr>
            </a:outerShdw>
          </a:effectLst>
        </p:spPr>
      </p:sp>
      <p:sp>
        <p:nvSpPr>
          <p:cNvPr id="22" name="Text 19"/>
          <p:cNvSpPr/>
          <p:nvPr/>
        </p:nvSpPr>
        <p:spPr>
          <a:xfrm>
            <a:off x="8668512" y="3794760"/>
            <a:ext cx="2871216" cy="347472"/>
          </a:xfrm>
          <a:prstGeom prst="rect">
            <a:avLst/>
          </a:prstGeom>
          <a:noFill/>
          <a:ln/>
        </p:spPr>
        <p:txBody>
          <a:bodyPr wrap="square" lIns="0" tIns="0" rIns="0" bIns="0" rtlCol="0" anchor="ctr"/>
          <a:lstStyle/>
          <a:p>
            <a:pPr indent="0" marL="0">
              <a:buNone/>
            </a:pPr>
            <a:r>
              <a:rPr lang="en-US" sz="1550" b="1" dirty="0">
                <a:solidFill>
                  <a:srgbClr val="16425B"/>
                </a:solidFill>
              </a:rPr>
              <a:t>SQL analysis + plots</a:t>
            </a:r>
            <a:endParaRPr lang="en-US" sz="1550" dirty="0"/>
          </a:p>
        </p:txBody>
      </p:sp>
      <p:sp>
        <p:nvSpPr>
          <p:cNvPr id="23" name="Text 20"/>
          <p:cNvSpPr/>
          <p:nvPr/>
        </p:nvSpPr>
        <p:spPr>
          <a:xfrm>
            <a:off x="8668512" y="4160520"/>
            <a:ext cx="2871216" cy="731520"/>
          </a:xfrm>
          <a:prstGeom prst="rect">
            <a:avLst/>
          </a:prstGeom>
          <a:noFill/>
          <a:ln/>
        </p:spPr>
        <p:txBody>
          <a:bodyPr wrap="square" lIns="0" tIns="0" rIns="0" bIns="0" rtlCol="0" anchor="t"/>
          <a:lstStyle/>
          <a:p>
            <a:pPr indent="0" marL="0">
              <a:lnSpc>
                <a:spcPct val="110000"/>
              </a:lnSpc>
              <a:buNone/>
            </a:pPr>
            <a:r>
              <a:rPr lang="en-US" sz="1200" dirty="0">
                <a:solidFill>
                  <a:srgbClr val="1A1A2E"/>
                </a:solidFill>
              </a:rPr>
              <a:t>Cross-run questions a single run can't answer (convergence, stability edge)</a:t>
            </a:r>
            <a:endParaRPr lang="en-US" sz="1200" dirty="0"/>
          </a:p>
        </p:txBody>
      </p:sp>
      <p:sp>
        <p:nvSpPr>
          <p:cNvPr id="24" name="Shape 21"/>
          <p:cNvSpPr/>
          <p:nvPr/>
        </p:nvSpPr>
        <p:spPr>
          <a:xfrm>
            <a:off x="6126480" y="3337560"/>
            <a:ext cx="0" cy="365760"/>
          </a:xfrm>
          <a:prstGeom prst="line">
            <a:avLst/>
          </a:prstGeom>
          <a:noFill/>
          <a:ln w="28575">
            <a:solidFill>
              <a:srgbClr val="5A6B7A"/>
            </a:solidFill>
            <a:prstDash val="solid"/>
            <a:tailEnd type="triangle"/>
          </a:ln>
        </p:spPr>
      </p:sp>
      <p:sp>
        <p:nvSpPr>
          <p:cNvPr id="25" name="Shape 22"/>
          <p:cNvSpPr/>
          <p:nvPr/>
        </p:nvSpPr>
        <p:spPr>
          <a:xfrm>
            <a:off x="10104120" y="3337560"/>
            <a:ext cx="0" cy="365760"/>
          </a:xfrm>
          <a:prstGeom prst="line">
            <a:avLst/>
          </a:prstGeom>
          <a:noFill/>
          <a:ln w="28575">
            <a:solidFill>
              <a:srgbClr val="5A6B7A"/>
            </a:solidFill>
            <a:prstDash val="solid"/>
            <a:tailEnd type="triangle"/>
          </a:ln>
        </p:spPr>
      </p:sp>
      <p:pic>
        <p:nvPicPr>
          <p:cNvPr id="26" name="Image 1" descr="/home/claude/fokker_planck/icons/branch.png">    </p:cNvPr>
          <p:cNvPicPr>
            <a:picLocks noChangeAspect="1"/>
          </p:cNvPicPr>
          <p:nvPr/>
        </p:nvPicPr>
        <p:blipFill>
          <a:blip r:embed="rId2"/>
          <a:stretch>
            <a:fillRect/>
          </a:stretch>
        </p:blipFill>
        <p:spPr>
          <a:xfrm>
            <a:off x="640080" y="5349240"/>
            <a:ext cx="310896" cy="310896"/>
          </a:xfrm>
          <a:prstGeom prst="rect">
            <a:avLst/>
          </a:prstGeom>
        </p:spPr>
      </p:pic>
      <p:sp>
        <p:nvSpPr>
          <p:cNvPr id="27" name="Text 23"/>
          <p:cNvSpPr/>
          <p:nvPr/>
        </p:nvSpPr>
        <p:spPr>
          <a:xfrm>
            <a:off x="1060704" y="5230368"/>
            <a:ext cx="3246120" cy="1234440"/>
          </a:xfrm>
          <a:prstGeom prst="rect">
            <a:avLst/>
          </a:prstGeom>
          <a:noFill/>
          <a:ln/>
        </p:spPr>
        <p:txBody>
          <a:bodyPr wrap="square" lIns="0" tIns="0" rIns="0" bIns="0" rtlCol="0" anchor="t"/>
          <a:lstStyle/>
          <a:p>
            <a:pPr indent="0" marL="0">
              <a:lnSpc>
                <a:spcPct val="112000"/>
              </a:lnSpc>
              <a:buNone/>
            </a:pPr>
            <a:r>
              <a:rPr lang="en-US" sz="1250" dirty="0">
                <a:solidFill>
                  <a:srgbClr val="1A1A2E"/>
                </a:solidFill>
              </a:rPr>
              <a:t>Separation of concerns — the maths knows nothing about storage; change one, not both.</a:t>
            </a:r>
            <a:endParaRPr lang="en-US" sz="1250" dirty="0"/>
          </a:p>
        </p:txBody>
      </p:sp>
      <p:pic>
        <p:nvPicPr>
          <p:cNvPr id="28" name="Image 2" descr="/home/claude/fokker_planck/icons/archive.png">    </p:cNvPr>
          <p:cNvPicPr>
            <a:picLocks noChangeAspect="1"/>
          </p:cNvPicPr>
          <p:nvPr/>
        </p:nvPicPr>
        <p:blipFill>
          <a:blip r:embed="rId3"/>
          <a:stretch>
            <a:fillRect/>
          </a:stretch>
        </p:blipFill>
        <p:spPr>
          <a:xfrm>
            <a:off x="4572000" y="5349240"/>
            <a:ext cx="310896" cy="310896"/>
          </a:xfrm>
          <a:prstGeom prst="rect">
            <a:avLst/>
          </a:prstGeom>
        </p:spPr>
      </p:pic>
      <p:sp>
        <p:nvSpPr>
          <p:cNvPr id="29" name="Text 24"/>
          <p:cNvSpPr/>
          <p:nvPr/>
        </p:nvSpPr>
        <p:spPr>
          <a:xfrm>
            <a:off x="4992624" y="5230368"/>
            <a:ext cx="3246120" cy="1234440"/>
          </a:xfrm>
          <a:prstGeom prst="rect">
            <a:avLst/>
          </a:prstGeom>
          <a:noFill/>
          <a:ln/>
        </p:spPr>
        <p:txBody>
          <a:bodyPr wrap="square" lIns="0" tIns="0" rIns="0" bIns="0" rtlCol="0" anchor="t"/>
          <a:lstStyle/>
          <a:p>
            <a:pPr indent="0" marL="0">
              <a:lnSpc>
                <a:spcPct val="112000"/>
              </a:lnSpc>
              <a:buNone/>
            </a:pPr>
            <a:r>
              <a:rPr lang="en-US" sz="1250" dirty="0">
                <a:solidFill>
                  <a:srgbClr val="1A1A2E"/>
                </a:solidFill>
              </a:rPr>
              <a:t>Persist everything, incl. failures — the runs that blow up are the most informative rows.</a:t>
            </a:r>
            <a:endParaRPr lang="en-US" sz="1250" dirty="0"/>
          </a:p>
        </p:txBody>
      </p:sp>
      <p:pic>
        <p:nvPicPr>
          <p:cNvPr id="30" name="Image 3" descr="/home/claude/fokker_planck/icons/checksq.png">    </p:cNvPr>
          <p:cNvPicPr>
            <a:picLocks noChangeAspect="1"/>
          </p:cNvPicPr>
          <p:nvPr/>
        </p:nvPicPr>
        <p:blipFill>
          <a:blip r:embed="rId4"/>
          <a:stretch>
            <a:fillRect/>
          </a:stretch>
        </p:blipFill>
        <p:spPr>
          <a:xfrm>
            <a:off x="8503920" y="5349240"/>
            <a:ext cx="310896" cy="310896"/>
          </a:xfrm>
          <a:prstGeom prst="rect">
            <a:avLst/>
          </a:prstGeom>
        </p:spPr>
      </p:pic>
      <p:sp>
        <p:nvSpPr>
          <p:cNvPr id="31" name="Text 25"/>
          <p:cNvSpPr/>
          <p:nvPr/>
        </p:nvSpPr>
        <p:spPr>
          <a:xfrm>
            <a:off x="8924544" y="5230368"/>
            <a:ext cx="3246120" cy="1234440"/>
          </a:xfrm>
          <a:prstGeom prst="rect">
            <a:avLst/>
          </a:prstGeom>
          <a:noFill/>
          <a:ln/>
        </p:spPr>
        <p:txBody>
          <a:bodyPr wrap="square" lIns="0" tIns="0" rIns="0" bIns="0" rtlCol="0" anchor="t"/>
          <a:lstStyle/>
          <a:p>
            <a:pPr indent="0" marL="0">
              <a:lnSpc>
                <a:spcPct val="112000"/>
              </a:lnSpc>
              <a:buNone/>
            </a:pPr>
            <a:r>
              <a:rPr lang="en-US" sz="1250" dirty="0">
                <a:solidFill>
                  <a:srgbClr val="1A1A2E"/>
                </a:solidFill>
              </a:rPr>
              <a:t>Automate the checking — claims are asserted by tests, not eyeballed from a graph.</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686800" cy="292608"/>
          </a:xfrm>
          <a:prstGeom prst="rect">
            <a:avLst/>
          </a:prstGeom>
          <a:noFill/>
          <a:ln/>
        </p:spPr>
        <p:txBody>
          <a:bodyPr wrap="square" lIns="0" tIns="0" rIns="0" bIns="0" rtlCol="0" anchor="ctr"/>
          <a:lstStyle/>
          <a:p>
            <a:pPr indent="0" marL="0">
              <a:buNone/>
            </a:pPr>
            <a:r>
              <a:rPr lang="en-US" sz="1300" b="1" spc="200" kern="0" dirty="0">
                <a:solidFill>
                  <a:srgbClr val="16425B"/>
                </a:solidFill>
              </a:rPr>
              <a:t>04 · THE GRID SOLVER</a:t>
            </a:r>
            <a:endParaRPr lang="en-US" sz="1300" dirty="0"/>
          </a:p>
        </p:txBody>
      </p:sp>
      <p:sp>
        <p:nvSpPr>
          <p:cNvPr id="3" name="Text 1"/>
          <p:cNvSpPr/>
          <p:nvPr/>
        </p:nvSpPr>
        <p:spPr>
          <a:xfrm>
            <a:off x="548640" y="658368"/>
            <a:ext cx="10058400" cy="640080"/>
          </a:xfrm>
          <a:prstGeom prst="rect">
            <a:avLst/>
          </a:prstGeom>
          <a:noFill/>
          <a:ln/>
        </p:spPr>
        <p:txBody>
          <a:bodyPr wrap="square" lIns="0" tIns="0" rIns="0" bIns="0" rtlCol="0" anchor="ctr"/>
          <a:lstStyle/>
          <a:p>
            <a:pPr indent="0" marL="0">
              <a:buNone/>
            </a:pPr>
            <a:r>
              <a:rPr lang="en-US" sz="2900" b="1" dirty="0">
                <a:solidFill>
                  <a:srgbClr val="1A1A2E"/>
                </a:solidFill>
              </a:rPr>
              <a:t>Neighbours nudging neighbours</a:t>
            </a:r>
            <a:endParaRPr lang="en-US" sz="2900" dirty="0"/>
          </a:p>
        </p:txBody>
      </p:sp>
      <p:sp>
        <p:nvSpPr>
          <p:cNvPr id="4" name="Shape 2"/>
          <p:cNvSpPr/>
          <p:nvPr/>
        </p:nvSpPr>
        <p:spPr>
          <a:xfrm>
            <a:off x="10972800" y="384048"/>
            <a:ext cx="713232" cy="713232"/>
          </a:xfrm>
          <a:prstGeom prst="roundRect">
            <a:avLst>
              <a:gd name="adj" fmla="val 17949"/>
            </a:avLst>
          </a:prstGeom>
          <a:solidFill>
            <a:srgbClr val="16425B"/>
          </a:solidFill>
          <a:ln w="12700">
            <a:solidFill>
              <a:srgbClr val="16425B"/>
            </a:solidFill>
            <a:prstDash val="solid"/>
          </a:ln>
        </p:spPr>
      </p:sp>
      <p:pic>
        <p:nvPicPr>
          <p:cNvPr id="5" name="Image 0" descr="/home/claude/fokker_planck/icons/grid_w.png">    </p:cNvPr>
          <p:cNvPicPr>
            <a:picLocks noChangeAspect="1"/>
          </p:cNvPicPr>
          <p:nvPr/>
        </p:nvPicPr>
        <p:blipFill>
          <a:blip r:embed="rId1"/>
          <a:stretch>
            <a:fillRect/>
          </a:stretch>
        </p:blipFill>
        <p:spPr>
          <a:xfrm>
            <a:off x="11119104" y="530352"/>
            <a:ext cx="420624" cy="420624"/>
          </a:xfrm>
          <a:prstGeom prst="rect">
            <a:avLst/>
          </a:prstGeom>
        </p:spPr>
      </p:pic>
      <p:sp>
        <p:nvSpPr>
          <p:cNvPr id="6" name="Text 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A6B7A"/>
                </a:solidFill>
              </a:rPr>
              <a:t>05</a:t>
            </a:r>
            <a:endParaRPr lang="en-US" sz="1000" dirty="0"/>
          </a:p>
        </p:txBody>
      </p:sp>
      <p:sp>
        <p:nvSpPr>
          <p:cNvPr id="7" name="Text 4"/>
          <p:cNvSpPr/>
          <p:nvPr/>
        </p:nvSpPr>
        <p:spPr>
          <a:xfrm>
            <a:off x="640080" y="1600200"/>
            <a:ext cx="10881360" cy="822960"/>
          </a:xfrm>
          <a:prstGeom prst="rect">
            <a:avLst/>
          </a:prstGeom>
          <a:noFill/>
          <a:ln/>
        </p:spPr>
        <p:txBody>
          <a:bodyPr wrap="square" lIns="0" tIns="0" rIns="0" bIns="0" rtlCol="0" anchor="ctr"/>
          <a:lstStyle/>
          <a:p>
            <a:pPr indent="0" marL="0">
              <a:lnSpc>
                <a:spcPct val="120000"/>
              </a:lnSpc>
              <a:buNone/>
            </a:pPr>
            <a:r>
              <a:rPr lang="en-US" sz="1750" dirty="0">
                <a:solidFill>
                  <a:srgbClr val="1A1A2E"/>
                </a:solidFill>
              </a:rPr>
              <a:t>Chop space into buckets, time into ticks. Each tick, every bucket looks at its two</a:t>
            </a:r>
            <a:endParaRPr lang="en-US" sz="1750" dirty="0"/>
          </a:p>
          <a:p>
            <a:pPr indent="0" marL="0">
              <a:lnSpc>
                <a:spcPct val="120000"/>
              </a:lnSpc>
              <a:buNone/>
            </a:pPr>
            <a:r>
              <a:rPr lang="en-US" sz="1750" dirty="0">
                <a:solidFill>
                  <a:srgbClr val="1A1A2E"/>
                </a:solidFill>
              </a:rPr>
              <a:t>neighbours: the drift slides probability along; the diffusion averages it out.</a:t>
            </a:r>
            <a:endParaRPr lang="en-US" sz="1750" dirty="0"/>
          </a:p>
        </p:txBody>
      </p:sp>
      <p:sp>
        <p:nvSpPr>
          <p:cNvPr id="8" name="Shape 5"/>
          <p:cNvSpPr/>
          <p:nvPr/>
        </p:nvSpPr>
        <p:spPr>
          <a:xfrm>
            <a:off x="640080" y="2606040"/>
            <a:ext cx="10881360" cy="1325880"/>
          </a:xfrm>
          <a:prstGeom prst="roundRect">
            <a:avLst>
              <a:gd name="adj" fmla="val 4138"/>
            </a:avLst>
          </a:prstGeom>
          <a:solidFill>
            <a:srgbClr val="F4F6F8"/>
          </a:solidFill>
          <a:ln w="12700">
            <a:solidFill>
              <a:srgbClr val="C9D4DC"/>
            </a:solidFill>
            <a:prstDash val="solid"/>
          </a:ln>
        </p:spPr>
      </p:sp>
      <p:sp>
        <p:nvSpPr>
          <p:cNvPr id="9" name="Text 6"/>
          <p:cNvSpPr/>
          <p:nvPr/>
        </p:nvSpPr>
        <p:spPr>
          <a:xfrm>
            <a:off x="868680" y="2606040"/>
            <a:ext cx="10424160" cy="1325880"/>
          </a:xfrm>
          <a:prstGeom prst="rect">
            <a:avLst/>
          </a:prstGeom>
          <a:noFill/>
          <a:ln/>
        </p:spPr>
        <p:txBody>
          <a:bodyPr wrap="square" lIns="0" tIns="0" rIns="0" bIns="0" rtlCol="0" anchor="ctr"/>
          <a:lstStyle/>
          <a:p>
            <a:pPr algn="l" indent="0" marL="0">
              <a:lnSpc>
                <a:spcPct val="115000"/>
              </a:lnSpc>
              <a:buNone/>
            </a:pPr>
            <a:r>
              <a:rPr lang="en-US" sz="1400" dirty="0">
                <a:solidFill>
                  <a:srgbClr val="1A1A2E"/>
                </a:solidFill>
                <a:latin typeface="Consolas" pitchFamily="34" charset="0"/>
                <a:ea typeface="Consolas" pitchFamily="34" charset="-122"/>
                <a:cs typeface="Consolas" pitchFamily="34" charset="-120"/>
              </a:rPr>
              <a:t>p_new[1:-1] = ( p[1:-1]</a:t>
            </a:r>
            <a:endParaRPr lang="en-US" sz="1400" dirty="0"/>
          </a:p>
          <a:p>
            <a:pPr algn="l" indent="0" marL="0">
              <a:lnSpc>
                <a:spcPct val="115000"/>
              </a:lnSpc>
              <a:buNone/>
            </a:pPr>
            <a:r>
              <a:rPr lang="en-US" sz="1400" dirty="0">
                <a:solidFill>
                  <a:srgbClr val="1A1A2E"/>
                </a:solidFill>
                <a:latin typeface="Consolas" pitchFamily="34" charset="0"/>
                <a:ea typeface="Consolas" pitchFamily="34" charset="-122"/>
                <a:cs typeface="Consolas" pitchFamily="34" charset="-120"/>
              </a:rPr>
              <a:t>                - c * (p[2:] - p[:-2])                # slide  (drift term)</a:t>
            </a:r>
            <a:endParaRPr lang="en-US" sz="1400" dirty="0"/>
          </a:p>
          <a:p>
            <a:pPr algn="l" indent="0" marL="0">
              <a:lnSpc>
                <a:spcPct val="115000"/>
              </a:lnSpc>
              <a:buNone/>
            </a:pPr>
            <a:r>
              <a:rPr lang="en-US" sz="1400" dirty="0">
                <a:solidFill>
                  <a:srgbClr val="1A1A2E"/>
                </a:solidFill>
                <a:latin typeface="Consolas" pitchFamily="34" charset="0"/>
                <a:ea typeface="Consolas" pitchFamily="34" charset="-122"/>
                <a:cs typeface="Consolas" pitchFamily="34" charset="-120"/>
              </a:rPr>
              <a:t>                + d * (p[2:] - 2*p[1:-1] + p[:-2]) )  # spread (diffusion term)</a:t>
            </a:r>
            <a:endParaRPr lang="en-US" sz="1400" dirty="0"/>
          </a:p>
        </p:txBody>
      </p:sp>
      <p:sp>
        <p:nvSpPr>
          <p:cNvPr id="10" name="Text 7"/>
          <p:cNvSpPr/>
          <p:nvPr/>
        </p:nvSpPr>
        <p:spPr>
          <a:xfrm>
            <a:off x="640080" y="4160520"/>
            <a:ext cx="10881360" cy="822960"/>
          </a:xfrm>
          <a:prstGeom prst="rect">
            <a:avLst/>
          </a:prstGeom>
          <a:noFill/>
          <a:ln/>
        </p:spPr>
        <p:txBody>
          <a:bodyPr wrap="square" lIns="0" tIns="0" rIns="0" bIns="0" rtlCol="0" anchor="ctr"/>
          <a:lstStyle/>
          <a:p>
            <a:pPr indent="0" marL="0">
              <a:lnSpc>
                <a:spcPct val="120000"/>
              </a:lnSpc>
              <a:buNone/>
            </a:pPr>
            <a:r>
              <a:rPr lang="en-US" sz="1550" b="1" dirty="0">
                <a:solidFill>
                  <a:srgbClr val="16425B"/>
                </a:solidFill>
              </a:rPr>
              <a:t>Slide: </a:t>
            </a:r>
            <a:pPr indent="0" marL="0">
              <a:lnSpc>
                <a:spcPct val="120000"/>
              </a:lnSpc>
              <a:buNone/>
            </a:pPr>
            <a:r>
              <a:rPr lang="en-US" sz="1550" dirty="0">
                <a:solidFill>
                  <a:srgbClr val="1A1A2E"/>
                </a:solidFill>
              </a:rPr>
              <a:t>right neighbour minus left = local slope (∂p/∂x).    </a:t>
            </a:r>
            <a:pPr indent="0" marL="0">
              <a:lnSpc>
                <a:spcPct val="120000"/>
              </a:lnSpc>
              <a:buNone/>
            </a:pPr>
            <a:r>
              <a:rPr lang="en-US" sz="1550" b="1" dirty="0">
                <a:solidFill>
                  <a:srgbClr val="16425B"/>
                </a:solidFill>
              </a:rPr>
              <a:t>Spread: </a:t>
            </a:r>
            <a:pPr indent="0" marL="0">
              <a:lnSpc>
                <a:spcPct val="120000"/>
              </a:lnSpc>
              <a:buNone/>
            </a:pPr>
            <a:r>
              <a:rPr lang="en-US" sz="1550" dirty="0">
                <a:solidFill>
                  <a:srgbClr val="1A1A2E"/>
                </a:solidFill>
              </a:rPr>
              <a:t>neighbours minus twice me = curvature (∂²p/∂x²) — peaks get shaved, dips get filled.</a:t>
            </a:r>
            <a:endParaRPr lang="en-US" sz="1550" dirty="0"/>
          </a:p>
        </p:txBody>
      </p:sp>
      <p:sp>
        <p:nvSpPr>
          <p:cNvPr id="11" name="Shape 8"/>
          <p:cNvSpPr/>
          <p:nvPr/>
        </p:nvSpPr>
        <p:spPr>
          <a:xfrm>
            <a:off x="640080" y="5166360"/>
            <a:ext cx="10881360" cy="1051560"/>
          </a:xfrm>
          <a:prstGeom prst="roundRect">
            <a:avLst>
              <a:gd name="adj" fmla="val 6957"/>
            </a:avLst>
          </a:prstGeom>
          <a:solidFill>
            <a:srgbClr val="FBF0F0"/>
          </a:solidFill>
          <a:ln w="12700">
            <a:solidFill>
              <a:srgbClr val="E4C7C7"/>
            </a:solidFill>
            <a:prstDash val="solid"/>
          </a:ln>
        </p:spPr>
      </p:sp>
      <p:sp>
        <p:nvSpPr>
          <p:cNvPr id="12" name="Text 9"/>
          <p:cNvSpPr/>
          <p:nvPr/>
        </p:nvSpPr>
        <p:spPr>
          <a:xfrm>
            <a:off x="868680" y="5166360"/>
            <a:ext cx="10424160" cy="1051560"/>
          </a:xfrm>
          <a:prstGeom prst="rect">
            <a:avLst/>
          </a:prstGeom>
          <a:noFill/>
          <a:ln/>
        </p:spPr>
        <p:txBody>
          <a:bodyPr wrap="square" lIns="0" tIns="0" rIns="0" bIns="0" rtlCol="0" anchor="ctr"/>
          <a:lstStyle/>
          <a:p>
            <a:pPr indent="0" marL="0">
              <a:lnSpc>
                <a:spcPct val="120000"/>
              </a:lnSpc>
              <a:buNone/>
            </a:pPr>
            <a:r>
              <a:rPr lang="en-US" sz="1550" b="1" dirty="0">
                <a:solidFill>
                  <a:srgbClr val="C62828"/>
                </a:solidFill>
              </a:rPr>
              <a:t>The catch:  </a:t>
            </a:r>
            <a:pPr indent="0" marL="0">
              <a:lnSpc>
                <a:spcPct val="120000"/>
              </a:lnSpc>
              <a:buNone/>
            </a:pPr>
            <a:r>
              <a:rPr lang="en-US" sz="1550" dirty="0">
                <a:solidFill>
                  <a:srgbClr val="1A1A2E"/>
                </a:solidFill>
              </a:rPr>
              <a:t>Δt and Δx are not independent. Stability requires  r = DΔt/Δx² ≤ ½ — beyond it, each step amplifies noise instead of damping it.</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686800" cy="292608"/>
          </a:xfrm>
          <a:prstGeom prst="rect">
            <a:avLst/>
          </a:prstGeom>
          <a:noFill/>
          <a:ln/>
        </p:spPr>
        <p:txBody>
          <a:bodyPr wrap="square" lIns="0" tIns="0" rIns="0" bIns="0" rtlCol="0" anchor="ctr"/>
          <a:lstStyle/>
          <a:p>
            <a:pPr indent="0" marL="0">
              <a:buNone/>
            </a:pPr>
            <a:r>
              <a:rPr lang="en-US" sz="1300" b="1" spc="200" kern="0" dirty="0">
                <a:solidFill>
                  <a:srgbClr val="16425B"/>
                </a:solidFill>
              </a:rPr>
              <a:t>05 · MONTE CARLO</a:t>
            </a:r>
            <a:endParaRPr lang="en-US" sz="1300" dirty="0"/>
          </a:p>
        </p:txBody>
      </p:sp>
      <p:sp>
        <p:nvSpPr>
          <p:cNvPr id="3" name="Text 1"/>
          <p:cNvSpPr/>
          <p:nvPr/>
        </p:nvSpPr>
        <p:spPr>
          <a:xfrm>
            <a:off x="548640" y="658368"/>
            <a:ext cx="10058400" cy="640080"/>
          </a:xfrm>
          <a:prstGeom prst="rect">
            <a:avLst/>
          </a:prstGeom>
          <a:noFill/>
          <a:ln/>
        </p:spPr>
        <p:txBody>
          <a:bodyPr wrap="square" lIns="0" tIns="0" rIns="0" bIns="0" rtlCol="0" anchor="ctr"/>
          <a:lstStyle/>
          <a:p>
            <a:pPr indent="0" marL="0">
              <a:buNone/>
            </a:pPr>
            <a:r>
              <a:rPr lang="en-US" sz="2900" b="1" dirty="0">
                <a:solidFill>
                  <a:srgbClr val="1A1A2E"/>
                </a:solidFill>
              </a:rPr>
              <a:t>Be the particle — 100,000 times</a:t>
            </a:r>
            <a:endParaRPr lang="en-US" sz="2900" dirty="0"/>
          </a:p>
        </p:txBody>
      </p:sp>
      <p:sp>
        <p:nvSpPr>
          <p:cNvPr id="4" name="Shape 2"/>
          <p:cNvSpPr/>
          <p:nvPr/>
        </p:nvSpPr>
        <p:spPr>
          <a:xfrm>
            <a:off x="10972800" y="384048"/>
            <a:ext cx="713232" cy="713232"/>
          </a:xfrm>
          <a:prstGeom prst="roundRect">
            <a:avLst>
              <a:gd name="adj" fmla="val 17949"/>
            </a:avLst>
          </a:prstGeom>
          <a:solidFill>
            <a:srgbClr val="16425B"/>
          </a:solidFill>
          <a:ln w="12700">
            <a:solidFill>
              <a:srgbClr val="16425B"/>
            </a:solidFill>
            <a:prstDash val="solid"/>
          </a:ln>
        </p:spPr>
      </p:sp>
      <p:pic>
        <p:nvPicPr>
          <p:cNvPr id="5" name="Image 0" descr="/home/claude/fokker_planck/icons/dice_w.png">    </p:cNvPr>
          <p:cNvPicPr>
            <a:picLocks noChangeAspect="1"/>
          </p:cNvPicPr>
          <p:nvPr/>
        </p:nvPicPr>
        <p:blipFill>
          <a:blip r:embed="rId1"/>
          <a:stretch>
            <a:fillRect/>
          </a:stretch>
        </p:blipFill>
        <p:spPr>
          <a:xfrm>
            <a:off x="11119104" y="530352"/>
            <a:ext cx="420624" cy="420624"/>
          </a:xfrm>
          <a:prstGeom prst="rect">
            <a:avLst/>
          </a:prstGeom>
        </p:spPr>
      </p:pic>
      <p:sp>
        <p:nvSpPr>
          <p:cNvPr id="6" name="Text 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A6B7A"/>
                </a:solidFill>
              </a:rPr>
              <a:t>06</a:t>
            </a:r>
            <a:endParaRPr lang="en-US" sz="1000" dirty="0"/>
          </a:p>
        </p:txBody>
      </p:sp>
      <p:sp>
        <p:nvSpPr>
          <p:cNvPr id="7" name="Text 4"/>
          <p:cNvSpPr/>
          <p:nvPr/>
        </p:nvSpPr>
        <p:spPr>
          <a:xfrm>
            <a:off x="640080" y="1600200"/>
            <a:ext cx="10881360" cy="822960"/>
          </a:xfrm>
          <a:prstGeom prst="rect">
            <a:avLst/>
          </a:prstGeom>
          <a:noFill/>
          <a:ln/>
        </p:spPr>
        <p:txBody>
          <a:bodyPr wrap="square" lIns="0" tIns="0" rIns="0" bIns="0" rtlCol="0" anchor="ctr"/>
          <a:lstStyle/>
          <a:p>
            <a:pPr indent="0" marL="0">
              <a:lnSpc>
                <a:spcPct val="120000"/>
              </a:lnSpc>
              <a:buNone/>
            </a:pPr>
            <a:r>
              <a:rPr lang="en-US" sz="1750" dirty="0">
                <a:solidFill>
                  <a:srgbClr val="1A1A2E"/>
                </a:solidFill>
              </a:rPr>
              <a:t>The opposite philosophy: never touch the PDE. Simulate one particle's journey — a fixed</a:t>
            </a:r>
            <a:endParaRPr lang="en-US" sz="1750" dirty="0"/>
          </a:p>
          <a:p>
            <a:pPr indent="0" marL="0">
              <a:lnSpc>
                <a:spcPct val="120000"/>
              </a:lnSpc>
              <a:buNone/>
            </a:pPr>
            <a:r>
              <a:rPr lang="en-US" sz="1750" dirty="0">
                <a:solidFill>
                  <a:srgbClr val="1A1A2E"/>
                </a:solidFill>
              </a:rPr>
              <a:t>drift move plus a random knock each step — then repeat 100,000 times and count.</a:t>
            </a:r>
            <a:endParaRPr lang="en-US" sz="1750" dirty="0"/>
          </a:p>
        </p:txBody>
      </p:sp>
      <p:sp>
        <p:nvSpPr>
          <p:cNvPr id="8" name="Shape 5"/>
          <p:cNvSpPr/>
          <p:nvPr/>
        </p:nvSpPr>
        <p:spPr>
          <a:xfrm>
            <a:off x="640080" y="2606040"/>
            <a:ext cx="10881360" cy="1005840"/>
          </a:xfrm>
          <a:prstGeom prst="roundRect">
            <a:avLst>
              <a:gd name="adj" fmla="val 5455"/>
            </a:avLst>
          </a:prstGeom>
          <a:solidFill>
            <a:srgbClr val="F4F6F8"/>
          </a:solidFill>
          <a:ln w="12700">
            <a:solidFill>
              <a:srgbClr val="C9D4DC"/>
            </a:solidFill>
            <a:prstDash val="solid"/>
          </a:ln>
        </p:spPr>
      </p:sp>
      <p:sp>
        <p:nvSpPr>
          <p:cNvPr id="9" name="Text 6"/>
          <p:cNvSpPr/>
          <p:nvPr/>
        </p:nvSpPr>
        <p:spPr>
          <a:xfrm>
            <a:off x="868680" y="2606040"/>
            <a:ext cx="10424160" cy="1005840"/>
          </a:xfrm>
          <a:prstGeom prst="rect">
            <a:avLst/>
          </a:prstGeom>
          <a:noFill/>
          <a:ln/>
        </p:spPr>
        <p:txBody>
          <a:bodyPr wrap="square" lIns="0" tIns="0" rIns="0" bIns="0" rtlCol="0" anchor="ctr"/>
          <a:lstStyle/>
          <a:p>
            <a:pPr algn="l" indent="0" marL="0">
              <a:lnSpc>
                <a:spcPct val="115000"/>
              </a:lnSpc>
              <a:buNone/>
            </a:pPr>
            <a:r>
              <a:rPr lang="en-US" sz="1350" dirty="0">
                <a:solidFill>
                  <a:srgbClr val="1A1A2E"/>
                </a:solidFill>
                <a:latin typeface="Consolas" pitchFamily="34" charset="0"/>
                <a:ea typeface="Consolas" pitchFamily="34" charset="-122"/>
                <a:cs typeface="Consolas" pitchFamily="34" charset="-120"/>
              </a:rPr>
              <a:t>increments = mu*dt + sigma*np.sqrt(dt) * rng.standard_normal((n_paths, n_steps))</a:t>
            </a:r>
            <a:endParaRPr lang="en-US" sz="1350" dirty="0"/>
          </a:p>
          <a:p>
            <a:pPr algn="l" indent="0" marL="0">
              <a:lnSpc>
                <a:spcPct val="115000"/>
              </a:lnSpc>
              <a:buNone/>
            </a:pPr>
            <a:r>
              <a:rPr lang="en-US" sz="1350" dirty="0">
                <a:solidFill>
                  <a:srgbClr val="1A1A2E"/>
                </a:solidFill>
                <a:latin typeface="Consolas" pitchFamily="34" charset="0"/>
                <a:ea typeface="Consolas" pitchFamily="34" charset="-122"/>
                <a:cs typeface="Consolas" pitchFamily="34" charset="-120"/>
              </a:rPr>
              <a:t>terminal   = increments.sum(axis=1)      # each particle's final position</a:t>
            </a:r>
            <a:endParaRPr lang="en-US" sz="1350" dirty="0"/>
          </a:p>
        </p:txBody>
      </p:sp>
      <p:sp>
        <p:nvSpPr>
          <p:cNvPr id="10" name="Text 7"/>
          <p:cNvSpPr/>
          <p:nvPr/>
        </p:nvSpPr>
        <p:spPr>
          <a:xfrm>
            <a:off x="868680" y="3840480"/>
            <a:ext cx="10515600" cy="1371600"/>
          </a:xfrm>
          <a:prstGeom prst="rect">
            <a:avLst/>
          </a:prstGeom>
          <a:noFill/>
          <a:ln/>
        </p:spPr>
        <p:txBody>
          <a:bodyPr wrap="square" lIns="0" tIns="0" rIns="0" bIns="0" rtlCol="0" anchor="ctr"/>
          <a:lstStyle/>
          <a:p>
            <a:pPr marL="342900" indent="-342900">
              <a:spcAft>
                <a:spcPts val="900"/>
              </a:spcAft>
              <a:buSzPct val="100000"/>
              <a:buChar char="•"/>
            </a:pPr>
            <a:r>
              <a:rPr lang="en-US" sz="1650" dirty="0">
                <a:solidFill>
                  <a:srgbClr val="1A1A2E"/>
                </a:solidFill>
              </a:rPr>
              <a:t>Fully vectorised — 10 million random movements in two lines, no Python loops.</a:t>
            </a:r>
            <a:endParaRPr lang="en-US" sz="1650" dirty="0"/>
          </a:p>
          <a:p>
            <a:pPr marL="342900" indent="-342900">
              <a:spcAft>
                <a:spcPts val="900"/>
              </a:spcAft>
              <a:buSzPct val="100000"/>
              <a:buChar char="•"/>
            </a:pPr>
            <a:r>
              <a:rPr lang="en-US" sz="1650" dirty="0">
                <a:solidFill>
                  <a:srgbClr val="1A1A2E"/>
                </a:solidFill>
              </a:rPr>
              <a:t>Seeded RNG — every result in this talk is exactly reproducible.</a:t>
            </a:r>
            <a:endParaRPr lang="en-US" sz="1650" dirty="0"/>
          </a:p>
          <a:p>
            <a:pPr marL="342900" indent="-342900">
              <a:buSzPct val="100000"/>
              <a:buChar char="•"/>
            </a:pPr>
            <a:r>
              <a:rPr lang="en-US" sz="1650" dirty="0">
                <a:solidFill>
                  <a:srgbClr val="1A1A2E"/>
                </a:solidFill>
              </a:rPr>
              <a:t>The histogram of final positions IS the answer — no calculus anywhere.</a:t>
            </a:r>
            <a:endParaRPr lang="en-US" sz="1650" dirty="0"/>
          </a:p>
        </p:txBody>
      </p:sp>
      <p:sp>
        <p:nvSpPr>
          <p:cNvPr id="11" name="Text 8"/>
          <p:cNvSpPr/>
          <p:nvPr/>
        </p:nvSpPr>
        <p:spPr>
          <a:xfrm>
            <a:off x="640080" y="5394960"/>
            <a:ext cx="10881360" cy="822960"/>
          </a:xfrm>
          <a:prstGeom prst="rect">
            <a:avLst/>
          </a:prstGeom>
          <a:noFill/>
          <a:ln/>
        </p:spPr>
        <p:txBody>
          <a:bodyPr wrap="square" lIns="0" tIns="0" rIns="0" bIns="0" rtlCol="0" anchor="ctr"/>
          <a:lstStyle/>
          <a:p>
            <a:pPr indent="0" marL="0">
              <a:lnSpc>
                <a:spcPct val="120000"/>
              </a:lnSpc>
              <a:buNone/>
            </a:pPr>
            <a:r>
              <a:rPr lang="en-US" sz="1550" b="1" dirty="0">
                <a:solidFill>
                  <a:srgbClr val="16425B"/>
                </a:solidFill>
              </a:rPr>
              <a:t>Solver = told the cloud's equation.   Monte Carlo = only told one particle's rule.</a:t>
            </a:r>
            <a:endParaRPr lang="en-US" sz="1550" dirty="0"/>
          </a:p>
          <a:p>
            <a:pPr indent="0" marL="0">
              <a:lnSpc>
                <a:spcPct val="120000"/>
              </a:lnSpc>
              <a:buNone/>
            </a:pPr>
            <a:r>
              <a:rPr lang="en-US" sz="1550" b="1" dirty="0">
                <a:solidFill>
                  <a:srgbClr val="16425B"/>
                </a:solidFill>
              </a:rPr>
              <a:t>No shared code, no shared assumptions — exactly what makes agreement meaningful.</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686800" cy="292608"/>
          </a:xfrm>
          <a:prstGeom prst="rect">
            <a:avLst/>
          </a:prstGeom>
          <a:noFill/>
          <a:ln/>
        </p:spPr>
        <p:txBody>
          <a:bodyPr wrap="square" lIns="0" tIns="0" rIns="0" bIns="0" rtlCol="0" anchor="ctr"/>
          <a:lstStyle/>
          <a:p>
            <a:pPr indent="0" marL="0">
              <a:buNone/>
            </a:pPr>
            <a:r>
              <a:rPr lang="en-US" sz="1300" b="1" spc="200" kern="0" dirty="0">
                <a:solidFill>
                  <a:srgbClr val="16425B"/>
                </a:solidFill>
              </a:rPr>
              <a:t>06 · RESULT</a:t>
            </a:r>
            <a:endParaRPr lang="en-US" sz="1300" dirty="0"/>
          </a:p>
        </p:txBody>
      </p:sp>
      <p:sp>
        <p:nvSpPr>
          <p:cNvPr id="3" name="Text 1"/>
          <p:cNvSpPr/>
          <p:nvPr/>
        </p:nvSpPr>
        <p:spPr>
          <a:xfrm>
            <a:off x="548640" y="658368"/>
            <a:ext cx="10058400" cy="640080"/>
          </a:xfrm>
          <a:prstGeom prst="rect">
            <a:avLst/>
          </a:prstGeom>
          <a:noFill/>
          <a:ln/>
        </p:spPr>
        <p:txBody>
          <a:bodyPr wrap="square" lIns="0" tIns="0" rIns="0" bIns="0" rtlCol="0" anchor="ctr"/>
          <a:lstStyle/>
          <a:p>
            <a:pPr indent="0" marL="0">
              <a:buNone/>
            </a:pPr>
            <a:r>
              <a:rPr lang="en-US" sz="2900" b="1" dirty="0">
                <a:solidFill>
                  <a:srgbClr val="1A1A2E"/>
                </a:solidFill>
              </a:rPr>
              <a:t>Three methods, one curve</a:t>
            </a:r>
            <a:endParaRPr lang="en-US" sz="2900" dirty="0"/>
          </a:p>
        </p:txBody>
      </p:sp>
      <p:sp>
        <p:nvSpPr>
          <p:cNvPr id="4" name="Shape 2"/>
          <p:cNvSpPr/>
          <p:nvPr/>
        </p:nvSpPr>
        <p:spPr>
          <a:xfrm>
            <a:off x="10972800" y="384048"/>
            <a:ext cx="713232" cy="713232"/>
          </a:xfrm>
          <a:prstGeom prst="roundRect">
            <a:avLst>
              <a:gd name="adj" fmla="val 17949"/>
            </a:avLst>
          </a:prstGeom>
          <a:solidFill>
            <a:srgbClr val="16425B"/>
          </a:solidFill>
          <a:ln w="12700">
            <a:solidFill>
              <a:srgbClr val="16425B"/>
            </a:solidFill>
            <a:prstDash val="solid"/>
          </a:ln>
        </p:spPr>
      </p:sp>
      <p:pic>
        <p:nvPicPr>
          <p:cNvPr id="5" name="Image 0" descr="/home/claude/fokker_planck/icons/check_w.png">    </p:cNvPr>
          <p:cNvPicPr>
            <a:picLocks noChangeAspect="1"/>
          </p:cNvPicPr>
          <p:nvPr/>
        </p:nvPicPr>
        <p:blipFill>
          <a:blip r:embed="rId1"/>
          <a:stretch>
            <a:fillRect/>
          </a:stretch>
        </p:blipFill>
        <p:spPr>
          <a:xfrm>
            <a:off x="11119104" y="530352"/>
            <a:ext cx="420624" cy="420624"/>
          </a:xfrm>
          <a:prstGeom prst="rect">
            <a:avLst/>
          </a:prstGeom>
        </p:spPr>
      </p:pic>
      <p:sp>
        <p:nvSpPr>
          <p:cNvPr id="6" name="Text 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A6B7A"/>
                </a:solidFill>
              </a:rPr>
              <a:t>07</a:t>
            </a:r>
            <a:endParaRPr lang="en-US" sz="1000" dirty="0"/>
          </a:p>
        </p:txBody>
      </p:sp>
      <p:sp>
        <p:nvSpPr>
          <p:cNvPr id="7" name="Shape 4"/>
          <p:cNvSpPr/>
          <p:nvPr/>
        </p:nvSpPr>
        <p:spPr>
          <a:xfrm>
            <a:off x="2121408" y="1463040"/>
            <a:ext cx="7955280" cy="4709160"/>
          </a:xfrm>
          <a:prstGeom prst="roundRect">
            <a:avLst>
              <a:gd name="adj" fmla="val 1553"/>
            </a:avLst>
          </a:prstGeom>
          <a:solidFill>
            <a:srgbClr val="FFFFFF"/>
          </a:solidFill>
          <a:ln w="12700">
            <a:solidFill>
              <a:srgbClr val="C9D4DC"/>
            </a:solidFill>
            <a:prstDash val="solid"/>
          </a:ln>
          <a:effectLst>
            <a:outerShdw sx="100000" sy="100000" kx="0" ky="0" algn="bl" rotWithShape="0" blurRad="63500" dist="25400" dir="5400000">
              <a:srgbClr val="888888">
                <a:alpha val="16000"/>
              </a:srgbClr>
            </a:outerShdw>
          </a:effectLst>
        </p:spPr>
      </p:sp>
      <p:pic>
        <p:nvPicPr>
          <p:cNvPr id="8" name="Image 1" descr="/home/claude/fokker_planck/plots/three_way_agreement.png">    </p:cNvPr>
          <p:cNvPicPr>
            <a:picLocks noChangeAspect="1"/>
          </p:cNvPicPr>
          <p:nvPr/>
        </p:nvPicPr>
        <p:blipFill>
          <a:blip r:embed="rId2"/>
          <a:stretch>
            <a:fillRect/>
          </a:stretch>
        </p:blipFill>
        <p:spPr>
          <a:xfrm>
            <a:off x="2304288" y="1600200"/>
            <a:ext cx="7589520" cy="4745736"/>
          </a:xfrm>
          <a:prstGeom prst="rect">
            <a:avLst/>
          </a:prstGeom>
        </p:spPr>
      </p:pic>
      <p:sp>
        <p:nvSpPr>
          <p:cNvPr id="9" name="Text 5"/>
          <p:cNvSpPr/>
          <p:nvPr/>
        </p:nvSpPr>
        <p:spPr>
          <a:xfrm>
            <a:off x="640080" y="6355080"/>
            <a:ext cx="10881360" cy="411480"/>
          </a:xfrm>
          <a:prstGeom prst="rect">
            <a:avLst/>
          </a:prstGeom>
          <a:noFill/>
          <a:ln/>
        </p:spPr>
        <p:txBody>
          <a:bodyPr wrap="square" lIns="0" tIns="0" rIns="0" bIns="0" rtlCol="0" anchor="ctr"/>
          <a:lstStyle/>
          <a:p>
            <a:pPr algn="ctr" indent="0" marL="0">
              <a:buNone/>
            </a:pPr>
            <a:r>
              <a:rPr lang="en-US" sz="1600" b="1" dirty="0">
                <a:solidFill>
                  <a:srgbClr val="16425B"/>
                </a:solidFill>
              </a:rPr>
              <a:t>Calculus, grid arithmetic, and dice-rolling land on the same bell curve.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686800" cy="292608"/>
          </a:xfrm>
          <a:prstGeom prst="rect">
            <a:avLst/>
          </a:prstGeom>
          <a:noFill/>
          <a:ln/>
        </p:spPr>
        <p:txBody>
          <a:bodyPr wrap="square" lIns="0" tIns="0" rIns="0" bIns="0" rtlCol="0" anchor="ctr"/>
          <a:lstStyle/>
          <a:p>
            <a:pPr indent="0" marL="0">
              <a:buNone/>
            </a:pPr>
            <a:r>
              <a:rPr lang="en-US" sz="1300" b="1" spc="200" kern="0" dirty="0">
                <a:solidFill>
                  <a:srgbClr val="16425B"/>
                </a:solidFill>
              </a:rPr>
              <a:t>07 · CORRECTNESS</a:t>
            </a:r>
            <a:endParaRPr lang="en-US" sz="1300" dirty="0"/>
          </a:p>
        </p:txBody>
      </p:sp>
      <p:sp>
        <p:nvSpPr>
          <p:cNvPr id="3" name="Text 1"/>
          <p:cNvSpPr/>
          <p:nvPr/>
        </p:nvSpPr>
        <p:spPr>
          <a:xfrm>
            <a:off x="548640" y="658368"/>
            <a:ext cx="10058400" cy="640080"/>
          </a:xfrm>
          <a:prstGeom prst="rect">
            <a:avLst/>
          </a:prstGeom>
          <a:noFill/>
          <a:ln/>
        </p:spPr>
        <p:txBody>
          <a:bodyPr wrap="square" lIns="0" tIns="0" rIns="0" bIns="0" rtlCol="0" anchor="ctr"/>
          <a:lstStyle/>
          <a:p>
            <a:pPr indent="0" marL="0">
              <a:buNone/>
            </a:pPr>
            <a:r>
              <a:rPr lang="en-US" sz="2900" b="1" dirty="0">
                <a:solidFill>
                  <a:srgbClr val="1A1A2E"/>
                </a:solidFill>
              </a:rPr>
              <a:t>Engineered, not assumed</a:t>
            </a:r>
            <a:endParaRPr lang="en-US" sz="2900" dirty="0"/>
          </a:p>
        </p:txBody>
      </p:sp>
      <p:sp>
        <p:nvSpPr>
          <p:cNvPr id="4" name="Shape 2"/>
          <p:cNvSpPr/>
          <p:nvPr/>
        </p:nvSpPr>
        <p:spPr>
          <a:xfrm>
            <a:off x="10972800" y="384048"/>
            <a:ext cx="713232" cy="713232"/>
          </a:xfrm>
          <a:prstGeom prst="roundRect">
            <a:avLst>
              <a:gd name="adj" fmla="val 17949"/>
            </a:avLst>
          </a:prstGeom>
          <a:solidFill>
            <a:srgbClr val="16425B"/>
          </a:solidFill>
          <a:ln w="12700">
            <a:solidFill>
              <a:srgbClr val="16425B"/>
            </a:solidFill>
            <a:prstDash val="solid"/>
          </a:ln>
        </p:spPr>
      </p:sp>
      <p:pic>
        <p:nvPicPr>
          <p:cNvPr id="5" name="Image 0" descr="/home/claude/fokker_planck/icons/shield_w.png">    </p:cNvPr>
          <p:cNvPicPr>
            <a:picLocks noChangeAspect="1"/>
          </p:cNvPicPr>
          <p:nvPr/>
        </p:nvPicPr>
        <p:blipFill>
          <a:blip r:embed="rId1"/>
          <a:stretch>
            <a:fillRect/>
          </a:stretch>
        </p:blipFill>
        <p:spPr>
          <a:xfrm>
            <a:off x="11119104" y="530352"/>
            <a:ext cx="420624" cy="420624"/>
          </a:xfrm>
          <a:prstGeom prst="rect">
            <a:avLst/>
          </a:prstGeom>
        </p:spPr>
      </p:pic>
      <p:sp>
        <p:nvSpPr>
          <p:cNvPr id="6" name="Text 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A6B7A"/>
                </a:solidFill>
              </a:rPr>
              <a:t>08</a:t>
            </a:r>
            <a:endParaRPr lang="en-US" sz="1000" dirty="0"/>
          </a:p>
        </p:txBody>
      </p:sp>
      <p:sp>
        <p:nvSpPr>
          <p:cNvPr id="7" name="Shape 4"/>
          <p:cNvSpPr/>
          <p:nvPr/>
        </p:nvSpPr>
        <p:spPr>
          <a:xfrm>
            <a:off x="685800" y="1463040"/>
            <a:ext cx="10835640" cy="4389120"/>
          </a:xfrm>
          <a:prstGeom prst="roundRect">
            <a:avLst>
              <a:gd name="adj" fmla="val 1667"/>
            </a:avLst>
          </a:prstGeom>
          <a:solidFill>
            <a:srgbClr val="FFFFFF"/>
          </a:solidFill>
          <a:ln w="12700">
            <a:solidFill>
              <a:srgbClr val="C9D4DC"/>
            </a:solidFill>
            <a:prstDash val="solid"/>
          </a:ln>
          <a:effectLst>
            <a:outerShdw sx="100000" sy="100000" kx="0" ky="0" algn="bl" rotWithShape="0" blurRad="63500" dist="25400" dir="5400000">
              <a:srgbClr val="888888">
                <a:alpha val="16000"/>
              </a:srgbClr>
            </a:outerShdw>
          </a:effectLst>
        </p:spPr>
      </p:sp>
      <p:pic>
        <p:nvPicPr>
          <p:cNvPr id="8" name="Image 1" descr="/home/claude/fokker_planck/plots/stability_demo.png">    </p:cNvPr>
          <p:cNvPicPr>
            <a:picLocks noChangeAspect="1"/>
          </p:cNvPicPr>
          <p:nvPr/>
        </p:nvPicPr>
        <p:blipFill>
          <a:blip r:embed="rId2"/>
          <a:stretch>
            <a:fillRect/>
          </a:stretch>
        </p:blipFill>
        <p:spPr>
          <a:xfrm>
            <a:off x="960120" y="1691640"/>
            <a:ext cx="10287000" cy="4206240"/>
          </a:xfrm>
          <a:prstGeom prst="rect">
            <a:avLst/>
          </a:prstGeom>
        </p:spPr>
      </p:pic>
      <p:sp>
        <p:nvSpPr>
          <p:cNvPr id="9" name="Text 5"/>
          <p:cNvSpPr/>
          <p:nvPr/>
        </p:nvSpPr>
        <p:spPr>
          <a:xfrm>
            <a:off x="685800" y="6035040"/>
            <a:ext cx="10835640" cy="731520"/>
          </a:xfrm>
          <a:prstGeom prst="rect">
            <a:avLst/>
          </a:prstGeom>
          <a:noFill/>
          <a:ln/>
        </p:spPr>
        <p:txBody>
          <a:bodyPr wrap="square" lIns="0" tIns="0" rIns="0" bIns="0" rtlCol="0" anchor="ctr"/>
          <a:lstStyle/>
          <a:p>
            <a:pPr indent="0" marL="0">
              <a:lnSpc>
                <a:spcPct val="115000"/>
              </a:lnSpc>
              <a:buNone/>
            </a:pPr>
            <a:r>
              <a:rPr lang="en-US" sz="1450" b="1" dirty="0">
                <a:solidFill>
                  <a:srgbClr val="C62828"/>
                </a:solidFill>
              </a:rPr>
              <a:t>Same code, same physics — only Δt changed. </a:t>
            </a:r>
            <a:pPr indent="0" marL="0">
              <a:lnSpc>
                <a:spcPct val="115000"/>
              </a:lnSpc>
              <a:buNone/>
            </a:pPr>
            <a:r>
              <a:rPr lang="en-US" sz="1450" dirty="0">
                <a:solidFill>
                  <a:srgbClr val="1A1A2E"/>
                </a:solidFill>
              </a:rPr>
              <a:t>The failure mode is known, provoked deliberately, and asserted by one of 5 automated tests — alongside mass conservation, exact moments, solver accuracy, and MC convergence.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686800" cy="292608"/>
          </a:xfrm>
          <a:prstGeom prst="rect">
            <a:avLst/>
          </a:prstGeom>
          <a:noFill/>
          <a:ln/>
        </p:spPr>
        <p:txBody>
          <a:bodyPr wrap="square" lIns="0" tIns="0" rIns="0" bIns="0" rtlCol="0" anchor="ctr"/>
          <a:lstStyle/>
          <a:p>
            <a:pPr indent="0" marL="0">
              <a:buNone/>
            </a:pPr>
            <a:r>
              <a:rPr lang="en-US" sz="1300" b="1" spc="200" kern="0" dirty="0">
                <a:solidFill>
                  <a:srgbClr val="16425B"/>
                </a:solidFill>
              </a:rPr>
              <a:t>08 · THE DATA LAYER</a:t>
            </a:r>
            <a:endParaRPr lang="en-US" sz="1300" dirty="0"/>
          </a:p>
        </p:txBody>
      </p:sp>
      <p:sp>
        <p:nvSpPr>
          <p:cNvPr id="3" name="Text 1"/>
          <p:cNvSpPr/>
          <p:nvPr/>
        </p:nvSpPr>
        <p:spPr>
          <a:xfrm>
            <a:off x="548640" y="658368"/>
            <a:ext cx="10058400" cy="640080"/>
          </a:xfrm>
          <a:prstGeom prst="rect">
            <a:avLst/>
          </a:prstGeom>
          <a:noFill/>
          <a:ln/>
        </p:spPr>
        <p:txBody>
          <a:bodyPr wrap="square" lIns="0" tIns="0" rIns="0" bIns="0" rtlCol="0" anchor="ctr"/>
          <a:lstStyle/>
          <a:p>
            <a:pPr indent="0" marL="0">
              <a:buNone/>
            </a:pPr>
            <a:r>
              <a:rPr lang="en-US" sz="2900" b="1" dirty="0">
                <a:solidFill>
                  <a:srgbClr val="1A1A2E"/>
                </a:solidFill>
              </a:rPr>
              <a:t>SQL proves the convergence</a:t>
            </a:r>
            <a:endParaRPr lang="en-US" sz="2900" dirty="0"/>
          </a:p>
        </p:txBody>
      </p:sp>
      <p:sp>
        <p:nvSpPr>
          <p:cNvPr id="4" name="Shape 2"/>
          <p:cNvSpPr/>
          <p:nvPr/>
        </p:nvSpPr>
        <p:spPr>
          <a:xfrm>
            <a:off x="10972800" y="384048"/>
            <a:ext cx="713232" cy="713232"/>
          </a:xfrm>
          <a:prstGeom prst="roundRect">
            <a:avLst>
              <a:gd name="adj" fmla="val 17949"/>
            </a:avLst>
          </a:prstGeom>
          <a:solidFill>
            <a:srgbClr val="16425B"/>
          </a:solidFill>
          <a:ln w="12700">
            <a:solidFill>
              <a:srgbClr val="16425B"/>
            </a:solidFill>
            <a:prstDash val="solid"/>
          </a:ln>
        </p:spPr>
      </p:sp>
      <p:pic>
        <p:nvPicPr>
          <p:cNvPr id="5" name="Image 0" descr="/home/claude/fokker_planck/icons/database_w.png">    </p:cNvPr>
          <p:cNvPicPr>
            <a:picLocks noChangeAspect="1"/>
          </p:cNvPicPr>
          <p:nvPr/>
        </p:nvPicPr>
        <p:blipFill>
          <a:blip r:embed="rId1"/>
          <a:stretch>
            <a:fillRect/>
          </a:stretch>
        </p:blipFill>
        <p:spPr>
          <a:xfrm>
            <a:off x="11119104" y="530352"/>
            <a:ext cx="420624" cy="420624"/>
          </a:xfrm>
          <a:prstGeom prst="rect">
            <a:avLst/>
          </a:prstGeom>
        </p:spPr>
      </p:pic>
      <p:sp>
        <p:nvSpPr>
          <p:cNvPr id="6" name="Text 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A6B7A"/>
                </a:solidFill>
              </a:rPr>
              <a:t>09</a:t>
            </a:r>
            <a:endParaRPr lang="en-US" sz="1000" dirty="0"/>
          </a:p>
        </p:txBody>
      </p:sp>
      <p:sp>
        <p:nvSpPr>
          <p:cNvPr id="7" name="Shape 4"/>
          <p:cNvSpPr/>
          <p:nvPr/>
        </p:nvSpPr>
        <p:spPr>
          <a:xfrm>
            <a:off x="640080" y="1554480"/>
            <a:ext cx="5852160" cy="4343400"/>
          </a:xfrm>
          <a:prstGeom prst="roundRect">
            <a:avLst>
              <a:gd name="adj" fmla="val 1684"/>
            </a:avLst>
          </a:prstGeom>
          <a:solidFill>
            <a:srgbClr val="FFFFFF"/>
          </a:solidFill>
          <a:ln w="12700">
            <a:solidFill>
              <a:srgbClr val="C9D4DC"/>
            </a:solidFill>
            <a:prstDash val="solid"/>
          </a:ln>
          <a:effectLst>
            <a:outerShdw sx="100000" sy="100000" kx="0" ky="0" algn="bl" rotWithShape="0" blurRad="63500" dist="25400" dir="5400000">
              <a:srgbClr val="888888">
                <a:alpha val="16000"/>
              </a:srgbClr>
            </a:outerShdw>
          </a:effectLst>
        </p:spPr>
      </p:sp>
      <p:pic>
        <p:nvPicPr>
          <p:cNvPr id="8" name="Image 1" descr="/home/claude/fokker_planck/plots/mc_convergence.png">    </p:cNvPr>
          <p:cNvPicPr>
            <a:picLocks noChangeAspect="1"/>
          </p:cNvPicPr>
          <p:nvPr/>
        </p:nvPicPr>
        <p:blipFill>
          <a:blip r:embed="rId2"/>
          <a:stretch>
            <a:fillRect/>
          </a:stretch>
        </p:blipFill>
        <p:spPr>
          <a:xfrm>
            <a:off x="822960" y="1737360"/>
            <a:ext cx="5486400" cy="3922776"/>
          </a:xfrm>
          <a:prstGeom prst="rect">
            <a:avLst/>
          </a:prstGeom>
        </p:spPr>
      </p:pic>
      <p:sp>
        <p:nvSpPr>
          <p:cNvPr id="9" name="Shape 5"/>
          <p:cNvSpPr/>
          <p:nvPr/>
        </p:nvSpPr>
        <p:spPr>
          <a:xfrm>
            <a:off x="6858000" y="1554480"/>
            <a:ext cx="4709160" cy="868680"/>
          </a:xfrm>
          <a:prstGeom prst="roundRect">
            <a:avLst>
              <a:gd name="adj" fmla="val 6316"/>
            </a:avLst>
          </a:prstGeom>
          <a:solidFill>
            <a:srgbClr val="F4F6F8"/>
          </a:solidFill>
          <a:ln w="12700">
            <a:solidFill>
              <a:srgbClr val="C9D4DC"/>
            </a:solidFill>
            <a:prstDash val="solid"/>
          </a:ln>
        </p:spPr>
      </p:sp>
      <p:sp>
        <p:nvSpPr>
          <p:cNvPr id="10" name="Text 6"/>
          <p:cNvSpPr/>
          <p:nvPr/>
        </p:nvSpPr>
        <p:spPr>
          <a:xfrm>
            <a:off x="7086600" y="1554480"/>
            <a:ext cx="4251960" cy="868680"/>
          </a:xfrm>
          <a:prstGeom prst="rect">
            <a:avLst/>
          </a:prstGeom>
          <a:noFill/>
          <a:ln/>
        </p:spPr>
        <p:txBody>
          <a:bodyPr wrap="square" lIns="0" tIns="0" rIns="0" bIns="0" rtlCol="0" anchor="ctr"/>
          <a:lstStyle/>
          <a:p>
            <a:pPr algn="l" indent="0" marL="0">
              <a:lnSpc>
                <a:spcPct val="115000"/>
              </a:lnSpc>
              <a:buNone/>
            </a:pPr>
            <a:r>
              <a:rPr lang="en-US" sz="1300" dirty="0">
                <a:solidFill>
                  <a:srgbClr val="1A1A2E"/>
                </a:solidFill>
                <a:latin typeface="Consolas" pitchFamily="34" charset="0"/>
                <a:ea typeface="Consolas" pitchFamily="34" charset="-122"/>
                <a:cs typeface="Consolas" pitchFamily="34" charset="-120"/>
              </a:rPr>
              <a:t>AVG(err) / LAG(AVG(err))</a:t>
            </a:r>
            <a:endParaRPr lang="en-US" sz="1300" dirty="0"/>
          </a:p>
          <a:p>
            <a:pPr algn="l" indent="0" marL="0">
              <a:lnSpc>
                <a:spcPct val="115000"/>
              </a:lnSpc>
              <a:buNone/>
            </a:pPr>
            <a:r>
              <a:rPr lang="en-US" sz="1300" dirty="0">
                <a:solidFill>
                  <a:srgbClr val="1A1A2E"/>
                </a:solidFill>
                <a:latin typeface="Consolas" pitchFamily="34" charset="0"/>
                <a:ea typeface="Consolas" pitchFamily="34" charset="-122"/>
                <a:cs typeface="Consolas" pitchFamily="34" charset="-120"/>
              </a:rPr>
              <a:t>  OVER (ORDER BY n_paths)</a:t>
            </a:r>
            <a:endParaRPr lang="en-US" sz="1300" dirty="0"/>
          </a:p>
        </p:txBody>
      </p:sp>
      <p:sp>
        <p:nvSpPr>
          <p:cNvPr id="11" name="Text 7"/>
          <p:cNvSpPr/>
          <p:nvPr/>
        </p:nvSpPr>
        <p:spPr>
          <a:xfrm>
            <a:off x="6858000" y="2606040"/>
            <a:ext cx="4709160" cy="594360"/>
          </a:xfrm>
          <a:prstGeom prst="rect">
            <a:avLst/>
          </a:prstGeom>
          <a:noFill/>
          <a:ln/>
        </p:spPr>
        <p:txBody>
          <a:bodyPr wrap="square" lIns="0" tIns="0" rIns="0" bIns="0" rtlCol="0" anchor="ctr"/>
          <a:lstStyle/>
          <a:p>
            <a:pPr indent="0" marL="0">
              <a:lnSpc>
                <a:spcPct val="115000"/>
              </a:lnSpc>
              <a:buNone/>
            </a:pPr>
            <a:r>
              <a:rPr lang="en-US" sz="1400" dirty="0">
                <a:solidFill>
                  <a:srgbClr val="1A1A2E"/>
                </a:solidFill>
              </a:rPr>
              <a:t>A window function compares each batch of runs to the previous batch:</a:t>
            </a:r>
            <a:endParaRPr lang="en-US" sz="1400" dirty="0"/>
          </a:p>
        </p:txBody>
      </p:sp>
      <p:sp>
        <p:nvSpPr>
          <p:cNvPr id="12" name="Text 8"/>
          <p:cNvSpPr/>
          <p:nvPr/>
        </p:nvSpPr>
        <p:spPr>
          <a:xfrm>
            <a:off x="6858000" y="3337560"/>
            <a:ext cx="4709160" cy="338328"/>
          </a:xfrm>
          <a:prstGeom prst="rect">
            <a:avLst/>
          </a:prstGeom>
          <a:noFill/>
          <a:ln/>
        </p:spPr>
        <p:txBody>
          <a:bodyPr wrap="square" lIns="0" tIns="0" rIns="0" bIns="0" rtlCol="0" anchor="ctr"/>
          <a:lstStyle/>
          <a:p>
            <a:pPr indent="0" marL="0">
              <a:buNone/>
            </a:pPr>
            <a:r>
              <a:rPr lang="en-US" sz="1350" b="1" dirty="0">
                <a:solidFill>
                  <a:srgbClr val="1A1A2E"/>
                </a:solidFill>
                <a:latin typeface="Consolas" pitchFamily="34" charset="0"/>
                <a:ea typeface="Consolas" pitchFamily="34" charset="-122"/>
                <a:cs typeface="Consolas" pitchFamily="34" charset="-120"/>
              </a:rPr>
              <a:t>Paths    </a:t>
            </a:r>
            <a:pPr indent="0" marL="0">
              <a:buNone/>
            </a:pPr>
            <a:r>
              <a:rPr lang="en-US" sz="1350" b="1" dirty="0">
                <a:solidFill>
                  <a:srgbClr val="1A1A2E"/>
                </a:solidFill>
                <a:latin typeface="Consolas" pitchFamily="34" charset="0"/>
                <a:ea typeface="Consolas" pitchFamily="34" charset="-122"/>
                <a:cs typeface="Consolas" pitchFamily="34" charset="-120"/>
              </a:rPr>
              <a:t>Avg error  </a:t>
            </a:r>
            <a:pPr indent="0" marL="0">
              <a:buNone/>
            </a:pPr>
            <a:r>
              <a:rPr lang="en-US" sz="1350" b="1" dirty="0">
                <a:solidFill>
                  <a:srgbClr val="1A1A2E"/>
                </a:solidFill>
                <a:latin typeface="Consolas" pitchFamily="34" charset="0"/>
                <a:ea typeface="Consolas" pitchFamily="34" charset="-122"/>
                <a:cs typeface="Consolas" pitchFamily="34" charset="-120"/>
              </a:rPr>
              <a:t>Ratio</a:t>
            </a:r>
            <a:endParaRPr lang="en-US" sz="1350" dirty="0"/>
          </a:p>
        </p:txBody>
      </p:sp>
      <p:sp>
        <p:nvSpPr>
          <p:cNvPr id="13" name="Text 9"/>
          <p:cNvSpPr/>
          <p:nvPr/>
        </p:nvSpPr>
        <p:spPr>
          <a:xfrm>
            <a:off x="6858000" y="3694176"/>
            <a:ext cx="4709160" cy="338328"/>
          </a:xfrm>
          <a:prstGeom prst="rect">
            <a:avLst/>
          </a:prstGeom>
          <a:noFill/>
          <a:ln/>
        </p:spPr>
        <p:txBody>
          <a:bodyPr wrap="square" lIns="0" tIns="0" rIns="0" bIns="0" rtlCol="0" anchor="ctr"/>
          <a:lstStyle/>
          <a:p>
            <a:pPr indent="0" marL="0">
              <a:buNone/>
            </a:pPr>
            <a:r>
              <a:rPr lang="en-US" sz="1350" dirty="0">
                <a:solidFill>
                  <a:srgbClr val="1A1A2E"/>
                </a:solidFill>
                <a:latin typeface="Consolas" pitchFamily="34" charset="0"/>
                <a:ea typeface="Consolas" pitchFamily="34" charset="-122"/>
                <a:cs typeface="Consolas" pitchFamily="34" charset="-120"/>
              </a:rPr>
              <a:t>100      </a:t>
            </a:r>
            <a:pPr indent="0" marL="0">
              <a:buNone/>
            </a:pPr>
            <a:r>
              <a:rPr lang="en-US" sz="1350" dirty="0">
                <a:solidFill>
                  <a:srgbClr val="1A1A2E"/>
                </a:solidFill>
                <a:latin typeface="Consolas" pitchFamily="34" charset="0"/>
                <a:ea typeface="Consolas" pitchFamily="34" charset="-122"/>
                <a:cs typeface="Consolas" pitchFamily="34" charset="-120"/>
              </a:rPr>
              <a:t>0.127      </a:t>
            </a:r>
            <a:pPr indent="0" marL="0">
              <a:buNone/>
            </a:pPr>
            <a:r>
              <a:rPr lang="en-US" sz="1350" b="1" dirty="0">
                <a:solidFill>
                  <a:srgbClr val="2E7D32"/>
                </a:solidFill>
                <a:latin typeface="Consolas" pitchFamily="34" charset="0"/>
                <a:ea typeface="Consolas" pitchFamily="34" charset="-122"/>
                <a:cs typeface="Consolas" pitchFamily="34" charset="-120"/>
              </a:rPr>
              <a:t>—</a:t>
            </a:r>
            <a:endParaRPr lang="en-US" sz="1350" dirty="0"/>
          </a:p>
        </p:txBody>
      </p:sp>
      <p:sp>
        <p:nvSpPr>
          <p:cNvPr id="14" name="Text 10"/>
          <p:cNvSpPr/>
          <p:nvPr/>
        </p:nvSpPr>
        <p:spPr>
          <a:xfrm>
            <a:off x="6858000" y="4050792"/>
            <a:ext cx="4709160" cy="338328"/>
          </a:xfrm>
          <a:prstGeom prst="rect">
            <a:avLst/>
          </a:prstGeom>
          <a:noFill/>
          <a:ln/>
        </p:spPr>
        <p:txBody>
          <a:bodyPr wrap="square" lIns="0" tIns="0" rIns="0" bIns="0" rtlCol="0" anchor="ctr"/>
          <a:lstStyle/>
          <a:p>
            <a:pPr indent="0" marL="0">
              <a:buNone/>
            </a:pPr>
            <a:r>
              <a:rPr lang="en-US" sz="1350" dirty="0">
                <a:solidFill>
                  <a:srgbClr val="1A1A2E"/>
                </a:solidFill>
                <a:latin typeface="Consolas" pitchFamily="34" charset="0"/>
                <a:ea typeface="Consolas" pitchFamily="34" charset="-122"/>
                <a:cs typeface="Consolas" pitchFamily="34" charset="-120"/>
              </a:rPr>
              <a:t>1,000    </a:t>
            </a:r>
            <a:pPr indent="0" marL="0">
              <a:buNone/>
            </a:pPr>
            <a:r>
              <a:rPr lang="en-US" sz="1350" dirty="0">
                <a:solidFill>
                  <a:srgbClr val="1A1A2E"/>
                </a:solidFill>
                <a:latin typeface="Consolas" pitchFamily="34" charset="0"/>
                <a:ea typeface="Consolas" pitchFamily="34" charset="-122"/>
                <a:cs typeface="Consolas" pitchFamily="34" charset="-120"/>
              </a:rPr>
              <a:t>0.040      </a:t>
            </a:r>
            <a:pPr indent="0" marL="0">
              <a:buNone/>
            </a:pPr>
            <a:r>
              <a:rPr lang="en-US" sz="1350" b="1" dirty="0">
                <a:solidFill>
                  <a:srgbClr val="2E7D32"/>
                </a:solidFill>
                <a:latin typeface="Consolas" pitchFamily="34" charset="0"/>
                <a:ea typeface="Consolas" pitchFamily="34" charset="-122"/>
                <a:cs typeface="Consolas" pitchFamily="34" charset="-120"/>
              </a:rPr>
              <a:t>0.317</a:t>
            </a:r>
            <a:endParaRPr lang="en-US" sz="1350" dirty="0"/>
          </a:p>
        </p:txBody>
      </p:sp>
      <p:sp>
        <p:nvSpPr>
          <p:cNvPr id="15" name="Text 11"/>
          <p:cNvSpPr/>
          <p:nvPr/>
        </p:nvSpPr>
        <p:spPr>
          <a:xfrm>
            <a:off x="6858000" y="4407408"/>
            <a:ext cx="4709160" cy="338328"/>
          </a:xfrm>
          <a:prstGeom prst="rect">
            <a:avLst/>
          </a:prstGeom>
          <a:noFill/>
          <a:ln/>
        </p:spPr>
        <p:txBody>
          <a:bodyPr wrap="square" lIns="0" tIns="0" rIns="0" bIns="0" rtlCol="0" anchor="ctr"/>
          <a:lstStyle/>
          <a:p>
            <a:pPr indent="0" marL="0">
              <a:buNone/>
            </a:pPr>
            <a:r>
              <a:rPr lang="en-US" sz="1350" dirty="0">
                <a:solidFill>
                  <a:srgbClr val="1A1A2E"/>
                </a:solidFill>
                <a:latin typeface="Consolas" pitchFamily="34" charset="0"/>
                <a:ea typeface="Consolas" pitchFamily="34" charset="-122"/>
                <a:cs typeface="Consolas" pitchFamily="34" charset="-120"/>
              </a:rPr>
              <a:t>10,000   </a:t>
            </a:r>
            <a:pPr indent="0" marL="0">
              <a:buNone/>
            </a:pPr>
            <a:r>
              <a:rPr lang="en-US" sz="1350" dirty="0">
                <a:solidFill>
                  <a:srgbClr val="1A1A2E"/>
                </a:solidFill>
                <a:latin typeface="Consolas" pitchFamily="34" charset="0"/>
                <a:ea typeface="Consolas" pitchFamily="34" charset="-122"/>
                <a:cs typeface="Consolas" pitchFamily="34" charset="-120"/>
              </a:rPr>
              <a:t>0.012      </a:t>
            </a:r>
            <a:pPr indent="0" marL="0">
              <a:buNone/>
            </a:pPr>
            <a:r>
              <a:rPr lang="en-US" sz="1350" b="1" dirty="0">
                <a:solidFill>
                  <a:srgbClr val="2E7D32"/>
                </a:solidFill>
                <a:latin typeface="Consolas" pitchFamily="34" charset="0"/>
                <a:ea typeface="Consolas" pitchFamily="34" charset="-122"/>
                <a:cs typeface="Consolas" pitchFamily="34" charset="-120"/>
              </a:rPr>
              <a:t>0.30</a:t>
            </a:r>
            <a:endParaRPr lang="en-US" sz="1350" dirty="0"/>
          </a:p>
        </p:txBody>
      </p:sp>
      <p:sp>
        <p:nvSpPr>
          <p:cNvPr id="16" name="Text 12"/>
          <p:cNvSpPr/>
          <p:nvPr/>
        </p:nvSpPr>
        <p:spPr>
          <a:xfrm>
            <a:off x="6858000" y="4764024"/>
            <a:ext cx="4709160" cy="338328"/>
          </a:xfrm>
          <a:prstGeom prst="rect">
            <a:avLst/>
          </a:prstGeom>
          <a:noFill/>
          <a:ln/>
        </p:spPr>
        <p:txBody>
          <a:bodyPr wrap="square" lIns="0" tIns="0" rIns="0" bIns="0" rtlCol="0" anchor="ctr"/>
          <a:lstStyle/>
          <a:p>
            <a:pPr indent="0" marL="0">
              <a:buNone/>
            </a:pPr>
            <a:r>
              <a:rPr lang="en-US" sz="1350" dirty="0">
                <a:solidFill>
                  <a:srgbClr val="1A1A2E"/>
                </a:solidFill>
                <a:latin typeface="Consolas" pitchFamily="34" charset="0"/>
                <a:ea typeface="Consolas" pitchFamily="34" charset="-122"/>
                <a:cs typeface="Consolas" pitchFamily="34" charset="-120"/>
              </a:rPr>
              <a:t>100,000  </a:t>
            </a:r>
            <a:pPr indent="0" marL="0">
              <a:buNone/>
            </a:pPr>
            <a:r>
              <a:rPr lang="en-US" sz="1350" dirty="0">
                <a:solidFill>
                  <a:srgbClr val="1A1A2E"/>
                </a:solidFill>
                <a:latin typeface="Consolas" pitchFamily="34" charset="0"/>
                <a:ea typeface="Consolas" pitchFamily="34" charset="-122"/>
                <a:cs typeface="Consolas" pitchFamily="34" charset="-120"/>
              </a:rPr>
              <a:t>0.0035     </a:t>
            </a:r>
            <a:pPr indent="0" marL="0">
              <a:buNone/>
            </a:pPr>
            <a:r>
              <a:rPr lang="en-US" sz="1350" b="1" dirty="0">
                <a:solidFill>
                  <a:srgbClr val="2E7D32"/>
                </a:solidFill>
                <a:latin typeface="Consolas" pitchFamily="34" charset="0"/>
                <a:ea typeface="Consolas" pitchFamily="34" charset="-122"/>
                <a:cs typeface="Consolas" pitchFamily="34" charset="-120"/>
              </a:rPr>
              <a:t>0.29</a:t>
            </a:r>
            <a:endParaRPr lang="en-US" sz="1350" dirty="0"/>
          </a:p>
        </p:txBody>
      </p:sp>
      <p:sp>
        <p:nvSpPr>
          <p:cNvPr id="17" name="Shape 13"/>
          <p:cNvSpPr/>
          <p:nvPr/>
        </p:nvSpPr>
        <p:spPr>
          <a:xfrm>
            <a:off x="6858000" y="5230368"/>
            <a:ext cx="4709160" cy="868680"/>
          </a:xfrm>
          <a:prstGeom prst="roundRect">
            <a:avLst>
              <a:gd name="adj" fmla="val 8421"/>
            </a:avLst>
          </a:prstGeom>
          <a:solidFill>
            <a:srgbClr val="F0F7F1"/>
          </a:solidFill>
          <a:ln w="12700">
            <a:solidFill>
              <a:srgbClr val="CBE0CD"/>
            </a:solidFill>
            <a:prstDash val="solid"/>
          </a:ln>
        </p:spPr>
      </p:sp>
      <p:sp>
        <p:nvSpPr>
          <p:cNvPr id="18" name="Text 14"/>
          <p:cNvSpPr/>
          <p:nvPr/>
        </p:nvSpPr>
        <p:spPr>
          <a:xfrm>
            <a:off x="7040880" y="5230368"/>
            <a:ext cx="4389120" cy="868680"/>
          </a:xfrm>
          <a:prstGeom prst="rect">
            <a:avLst/>
          </a:prstGeom>
          <a:noFill/>
          <a:ln/>
        </p:spPr>
        <p:txBody>
          <a:bodyPr wrap="square" lIns="0" tIns="0" rIns="0" bIns="0" rtlCol="0" anchor="ctr"/>
          <a:lstStyle/>
          <a:p>
            <a:pPr indent="0" marL="0">
              <a:lnSpc>
                <a:spcPct val="115000"/>
              </a:lnSpc>
              <a:buNone/>
            </a:pPr>
            <a:r>
              <a:rPr lang="en-US" sz="1350" b="1" dirty="0">
                <a:solidFill>
                  <a:srgbClr val="2E7D32"/>
                </a:solidFill>
              </a:rPr>
              <a:t>Theory predicts 1/√10 ≈ 0.316 per tenfold — the database confirms it.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686800" cy="292608"/>
          </a:xfrm>
          <a:prstGeom prst="rect">
            <a:avLst/>
          </a:prstGeom>
          <a:noFill/>
          <a:ln/>
        </p:spPr>
        <p:txBody>
          <a:bodyPr wrap="square" lIns="0" tIns="0" rIns="0" bIns="0" rtlCol="0" anchor="ctr"/>
          <a:lstStyle/>
          <a:p>
            <a:pPr indent="0" marL="0">
              <a:buNone/>
            </a:pPr>
            <a:r>
              <a:rPr lang="en-US" sz="1300" b="1" spc="200" kern="0" dirty="0">
                <a:solidFill>
                  <a:srgbClr val="16425B"/>
                </a:solidFill>
              </a:rPr>
              <a:t>09 · CLOSING</a:t>
            </a:r>
            <a:endParaRPr lang="en-US" sz="1300" dirty="0"/>
          </a:p>
        </p:txBody>
      </p:sp>
      <p:sp>
        <p:nvSpPr>
          <p:cNvPr id="3" name="Text 1"/>
          <p:cNvSpPr/>
          <p:nvPr/>
        </p:nvSpPr>
        <p:spPr>
          <a:xfrm>
            <a:off x="548640" y="658368"/>
            <a:ext cx="10058400" cy="640080"/>
          </a:xfrm>
          <a:prstGeom prst="rect">
            <a:avLst/>
          </a:prstGeom>
          <a:noFill/>
          <a:ln/>
        </p:spPr>
        <p:txBody>
          <a:bodyPr wrap="square" lIns="0" tIns="0" rIns="0" bIns="0" rtlCol="0" anchor="ctr"/>
          <a:lstStyle/>
          <a:p>
            <a:pPr indent="0" marL="0">
              <a:buNone/>
            </a:pPr>
            <a:r>
              <a:rPr lang="en-US" sz="2900" b="1" dirty="0">
                <a:solidFill>
                  <a:srgbClr val="1A1A2E"/>
                </a:solidFill>
              </a:rPr>
              <a:t>What this demonstrates</a:t>
            </a:r>
            <a:endParaRPr lang="en-US" sz="2900" dirty="0"/>
          </a:p>
        </p:txBody>
      </p:sp>
      <p:sp>
        <p:nvSpPr>
          <p:cNvPr id="4" name="Shape 2"/>
          <p:cNvSpPr/>
          <p:nvPr/>
        </p:nvSpPr>
        <p:spPr>
          <a:xfrm>
            <a:off x="10972800" y="384048"/>
            <a:ext cx="713232" cy="713232"/>
          </a:xfrm>
          <a:prstGeom prst="roundRect">
            <a:avLst>
              <a:gd name="adj" fmla="val 17949"/>
            </a:avLst>
          </a:prstGeom>
          <a:solidFill>
            <a:srgbClr val="16425B"/>
          </a:solidFill>
          <a:ln w="12700">
            <a:solidFill>
              <a:srgbClr val="16425B"/>
            </a:solidFill>
            <a:prstDash val="solid"/>
          </a:ln>
        </p:spPr>
      </p:sp>
      <p:pic>
        <p:nvPicPr>
          <p:cNvPr id="5" name="Image 0" descr="/home/claude/fokker_planck/icons/flag_w.png">    </p:cNvPr>
          <p:cNvPicPr>
            <a:picLocks noChangeAspect="1"/>
          </p:cNvPicPr>
          <p:nvPr/>
        </p:nvPicPr>
        <p:blipFill>
          <a:blip r:embed="rId1"/>
          <a:stretch>
            <a:fillRect/>
          </a:stretch>
        </p:blipFill>
        <p:spPr>
          <a:xfrm>
            <a:off x="11119104" y="530352"/>
            <a:ext cx="420624" cy="420624"/>
          </a:xfrm>
          <a:prstGeom prst="rect">
            <a:avLst/>
          </a:prstGeom>
        </p:spPr>
      </p:pic>
      <p:sp>
        <p:nvSpPr>
          <p:cNvPr id="6" name="Text 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A6B7A"/>
                </a:solidFill>
              </a:rPr>
              <a:t>10</a:t>
            </a:r>
            <a:endParaRPr lang="en-US" sz="1000" dirty="0"/>
          </a:p>
        </p:txBody>
      </p:sp>
      <p:pic>
        <p:nvPicPr>
          <p:cNvPr id="7" name="Image 1" descr="/home/claude/fokker_planck/icons/check.png">    </p:cNvPr>
          <p:cNvPicPr>
            <a:picLocks noChangeAspect="1"/>
          </p:cNvPicPr>
          <p:nvPr/>
        </p:nvPicPr>
        <p:blipFill>
          <a:blip r:embed="rId2"/>
          <a:stretch>
            <a:fillRect/>
          </a:stretch>
        </p:blipFill>
        <p:spPr>
          <a:xfrm>
            <a:off x="868680" y="1673352"/>
            <a:ext cx="347472" cy="347472"/>
          </a:xfrm>
          <a:prstGeom prst="rect">
            <a:avLst/>
          </a:prstGeom>
        </p:spPr>
      </p:pic>
      <p:sp>
        <p:nvSpPr>
          <p:cNvPr id="8" name="Text 4"/>
          <p:cNvSpPr/>
          <p:nvPr/>
        </p:nvSpPr>
        <p:spPr>
          <a:xfrm>
            <a:off x="1371600" y="1645920"/>
            <a:ext cx="10149840" cy="566928"/>
          </a:xfrm>
          <a:prstGeom prst="rect">
            <a:avLst/>
          </a:prstGeom>
          <a:noFill/>
          <a:ln/>
        </p:spPr>
        <p:txBody>
          <a:bodyPr wrap="square" lIns="0" tIns="0" rIns="0" bIns="0" rtlCol="0" anchor="t"/>
          <a:lstStyle/>
          <a:p>
            <a:pPr indent="0" marL="0">
              <a:lnSpc>
                <a:spcPct val="110000"/>
              </a:lnSpc>
              <a:buNone/>
            </a:pPr>
            <a:r>
              <a:rPr lang="en-US" sz="1700" dirty="0">
                <a:solidFill>
                  <a:srgbClr val="1A1A2E"/>
                </a:solidFill>
              </a:rPr>
              <a:t>Independent methods agreeing — the strongest evidence an implementation is right.</a:t>
            </a:r>
            <a:endParaRPr lang="en-US" sz="1700" dirty="0"/>
          </a:p>
        </p:txBody>
      </p:sp>
      <p:pic>
        <p:nvPicPr>
          <p:cNvPr id="9" name="Image 2" descr="/home/claude/fokker_planck/icons/shield.png">    </p:cNvPr>
          <p:cNvPicPr>
            <a:picLocks noChangeAspect="1"/>
          </p:cNvPicPr>
          <p:nvPr/>
        </p:nvPicPr>
        <p:blipFill>
          <a:blip r:embed="rId3"/>
          <a:stretch>
            <a:fillRect/>
          </a:stretch>
        </p:blipFill>
        <p:spPr>
          <a:xfrm>
            <a:off x="868680" y="2359152"/>
            <a:ext cx="347472" cy="347472"/>
          </a:xfrm>
          <a:prstGeom prst="rect">
            <a:avLst/>
          </a:prstGeom>
        </p:spPr>
      </p:pic>
      <p:sp>
        <p:nvSpPr>
          <p:cNvPr id="10" name="Text 5"/>
          <p:cNvSpPr/>
          <p:nvPr/>
        </p:nvSpPr>
        <p:spPr>
          <a:xfrm>
            <a:off x="1371600" y="2331720"/>
            <a:ext cx="10149840" cy="566928"/>
          </a:xfrm>
          <a:prstGeom prst="rect">
            <a:avLst/>
          </a:prstGeom>
          <a:noFill/>
          <a:ln/>
        </p:spPr>
        <p:txBody>
          <a:bodyPr wrap="square" lIns="0" tIns="0" rIns="0" bIns="0" rtlCol="0" anchor="t"/>
          <a:lstStyle/>
          <a:p>
            <a:pPr indent="0" marL="0">
              <a:lnSpc>
                <a:spcPct val="110000"/>
              </a:lnSpc>
              <a:buNone/>
            </a:pPr>
            <a:r>
              <a:rPr lang="en-US" sz="1700" dirty="0">
                <a:solidFill>
                  <a:srgbClr val="1A1A2E"/>
                </a:solidFill>
              </a:rPr>
              <a:t>Failure modes known, provoked deliberately, and covered by automated tests.</a:t>
            </a:r>
            <a:endParaRPr lang="en-US" sz="1700" dirty="0"/>
          </a:p>
        </p:txBody>
      </p:sp>
      <p:pic>
        <p:nvPicPr>
          <p:cNvPr id="11" name="Image 3" descr="/home/claude/fokker_planck/icons/database.png">    </p:cNvPr>
          <p:cNvPicPr>
            <a:picLocks noChangeAspect="1"/>
          </p:cNvPicPr>
          <p:nvPr/>
        </p:nvPicPr>
        <p:blipFill>
          <a:blip r:embed="rId4"/>
          <a:stretch>
            <a:fillRect/>
          </a:stretch>
        </p:blipFill>
        <p:spPr>
          <a:xfrm>
            <a:off x="868680" y="3044952"/>
            <a:ext cx="347472" cy="347472"/>
          </a:xfrm>
          <a:prstGeom prst="rect">
            <a:avLst/>
          </a:prstGeom>
        </p:spPr>
      </p:pic>
      <p:sp>
        <p:nvSpPr>
          <p:cNvPr id="12" name="Text 6"/>
          <p:cNvSpPr/>
          <p:nvPr/>
        </p:nvSpPr>
        <p:spPr>
          <a:xfrm>
            <a:off x="1371600" y="3017520"/>
            <a:ext cx="10149840" cy="566928"/>
          </a:xfrm>
          <a:prstGeom prst="rect">
            <a:avLst/>
          </a:prstGeom>
          <a:noFill/>
          <a:ln/>
        </p:spPr>
        <p:txBody>
          <a:bodyPr wrap="square" lIns="0" tIns="0" rIns="0" bIns="0" rtlCol="0" anchor="t"/>
          <a:lstStyle/>
          <a:p>
            <a:pPr indent="0" marL="0">
              <a:lnSpc>
                <a:spcPct val="110000"/>
              </a:lnSpc>
              <a:buNone/>
            </a:pPr>
            <a:r>
              <a:rPr lang="en-US" sz="1700" dirty="0">
                <a:solidFill>
                  <a:srgbClr val="1A1A2E"/>
                </a:solidFill>
              </a:rPr>
              <a:t>Every result persisted and queryable — conclusions come from data, not memory.</a:t>
            </a:r>
            <a:endParaRPr lang="en-US" sz="1700" dirty="0"/>
          </a:p>
        </p:txBody>
      </p:sp>
      <p:pic>
        <p:nvPicPr>
          <p:cNvPr id="13" name="Image 4" descr="/home/claude/fokker_planck/icons/layers.png">    </p:cNvPr>
          <p:cNvPicPr>
            <a:picLocks noChangeAspect="1"/>
          </p:cNvPicPr>
          <p:nvPr/>
        </p:nvPicPr>
        <p:blipFill>
          <a:blip r:embed="rId5"/>
          <a:stretch>
            <a:fillRect/>
          </a:stretch>
        </p:blipFill>
        <p:spPr>
          <a:xfrm>
            <a:off x="868680" y="3730752"/>
            <a:ext cx="347472" cy="347472"/>
          </a:xfrm>
          <a:prstGeom prst="rect">
            <a:avLst/>
          </a:prstGeom>
        </p:spPr>
      </p:pic>
      <p:sp>
        <p:nvSpPr>
          <p:cNvPr id="14" name="Text 7"/>
          <p:cNvSpPr/>
          <p:nvPr/>
        </p:nvSpPr>
        <p:spPr>
          <a:xfrm>
            <a:off x="1371600" y="3703320"/>
            <a:ext cx="10149840" cy="566928"/>
          </a:xfrm>
          <a:prstGeom prst="rect">
            <a:avLst/>
          </a:prstGeom>
          <a:noFill/>
          <a:ln/>
        </p:spPr>
        <p:txBody>
          <a:bodyPr wrap="square" lIns="0" tIns="0" rIns="0" bIns="0" rtlCol="0" anchor="t"/>
          <a:lstStyle/>
          <a:p>
            <a:pPr indent="0" marL="0">
              <a:lnSpc>
                <a:spcPct val="110000"/>
              </a:lnSpc>
              <a:buNone/>
            </a:pPr>
            <a:r>
              <a:rPr lang="en-US" sz="1700" dirty="0">
                <a:solidFill>
                  <a:srgbClr val="1A1A2E"/>
                </a:solidFill>
              </a:rPr>
              <a:t>Python computes, SQL analyses, tests build trust — structured like production work.</a:t>
            </a:r>
            <a:endParaRPr lang="en-US" sz="1700" dirty="0"/>
          </a:p>
        </p:txBody>
      </p:sp>
      <p:sp>
        <p:nvSpPr>
          <p:cNvPr id="15" name="Shape 8"/>
          <p:cNvSpPr/>
          <p:nvPr/>
        </p:nvSpPr>
        <p:spPr>
          <a:xfrm>
            <a:off x="640080" y="4617720"/>
            <a:ext cx="10881360" cy="1143000"/>
          </a:xfrm>
          <a:prstGeom prst="roundRect">
            <a:avLst>
              <a:gd name="adj" fmla="val 6400"/>
            </a:avLst>
          </a:prstGeom>
          <a:solidFill>
            <a:srgbClr val="E9EFF4"/>
          </a:solidFill>
          <a:ln w="12700">
            <a:solidFill>
              <a:srgbClr val="C9D4DC"/>
            </a:solidFill>
            <a:prstDash val="solid"/>
          </a:ln>
        </p:spPr>
      </p:sp>
      <p:sp>
        <p:nvSpPr>
          <p:cNvPr id="16" name="Text 9"/>
          <p:cNvSpPr/>
          <p:nvPr/>
        </p:nvSpPr>
        <p:spPr>
          <a:xfrm>
            <a:off x="868680" y="4617720"/>
            <a:ext cx="10424160" cy="1143000"/>
          </a:xfrm>
          <a:prstGeom prst="rect">
            <a:avLst/>
          </a:prstGeom>
          <a:noFill/>
          <a:ln/>
        </p:spPr>
        <p:txBody>
          <a:bodyPr wrap="square" lIns="0" tIns="0" rIns="0" bIns="0" rtlCol="0" anchor="ctr"/>
          <a:lstStyle/>
          <a:p>
            <a:pPr algn="ctr" indent="0" marL="0">
              <a:lnSpc>
                <a:spcPct val="120000"/>
              </a:lnSpc>
              <a:buNone/>
            </a:pPr>
            <a:r>
              <a:rPr lang="en-US" sz="1900" i="1" dirty="0">
                <a:solidFill>
                  <a:srgbClr val="16425B"/>
                </a:solidFill>
              </a:rPr>
              <a:t>“Accuracy can’t be taken on faith — it has to be demonstrated.</a:t>
            </a:r>
            <a:endParaRPr lang="en-US" sz="1900" dirty="0"/>
          </a:p>
          <a:p>
            <a:pPr algn="ctr" indent="0" marL="0">
              <a:lnSpc>
                <a:spcPct val="120000"/>
              </a:lnSpc>
              <a:buNone/>
            </a:pPr>
            <a:r>
              <a:rPr lang="en-US" sz="1900" i="1" dirty="0">
                <a:solidFill>
                  <a:srgbClr val="16425B"/>
                </a:solidFill>
              </a:rPr>
              <a:t>That’s how I’d approach reliability in your systems too.”</a:t>
            </a:r>
            <a:endParaRPr lang="en-US" sz="1900" dirty="0"/>
          </a:p>
        </p:txBody>
      </p:sp>
      <p:sp>
        <p:nvSpPr>
          <p:cNvPr id="17" name="Text 10"/>
          <p:cNvSpPr/>
          <p:nvPr/>
        </p:nvSpPr>
        <p:spPr>
          <a:xfrm>
            <a:off x="640080" y="6035040"/>
            <a:ext cx="10881360" cy="411480"/>
          </a:xfrm>
          <a:prstGeom prst="rect">
            <a:avLst/>
          </a:prstGeom>
          <a:noFill/>
          <a:ln/>
        </p:spPr>
        <p:txBody>
          <a:bodyPr wrap="square" lIns="0" tIns="0" rIns="0" bIns="0" rtlCol="0" anchor="ctr"/>
          <a:lstStyle/>
          <a:p>
            <a:pPr algn="ctr" indent="0" marL="0">
              <a:buNone/>
            </a:pPr>
            <a:r>
              <a:rPr lang="en-US" sz="1400" dirty="0">
                <a:solidFill>
                  <a:srgbClr val="5A6B7A"/>
                </a:solidFill>
              </a:rPr>
              <a:t>Code, tests, figures and README:  github.com/Saaqure94</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8686800" cy="292608"/>
          </a:xfrm>
          <a:prstGeom prst="rect">
            <a:avLst/>
          </a:prstGeom>
          <a:noFill/>
          <a:ln/>
        </p:spPr>
        <p:txBody>
          <a:bodyPr wrap="square" lIns="0" tIns="0" rIns="0" bIns="0" rtlCol="0" anchor="ctr"/>
          <a:lstStyle/>
          <a:p>
            <a:pPr indent="0" marL="0">
              <a:buNone/>
            </a:pPr>
            <a:r>
              <a:rPr lang="en-US" sz="1300" b="1" spc="200" kern="0" dirty="0">
                <a:solidFill>
                  <a:srgbClr val="16425B"/>
                </a:solidFill>
              </a:rPr>
              <a:t>APPENDIX</a:t>
            </a:r>
            <a:endParaRPr lang="en-US" sz="1300" dirty="0"/>
          </a:p>
        </p:txBody>
      </p:sp>
      <p:sp>
        <p:nvSpPr>
          <p:cNvPr id="3" name="Text 1"/>
          <p:cNvSpPr/>
          <p:nvPr/>
        </p:nvSpPr>
        <p:spPr>
          <a:xfrm>
            <a:off x="548640" y="658368"/>
            <a:ext cx="10058400" cy="640080"/>
          </a:xfrm>
          <a:prstGeom prst="rect">
            <a:avLst/>
          </a:prstGeom>
          <a:noFill/>
          <a:ln/>
        </p:spPr>
        <p:txBody>
          <a:bodyPr wrap="square" lIns="0" tIns="0" rIns="0" bIns="0" rtlCol="0" anchor="ctr"/>
          <a:lstStyle/>
          <a:p>
            <a:pPr indent="0" marL="0">
              <a:buNone/>
            </a:pPr>
            <a:r>
              <a:rPr lang="en-US" sz="2900" b="1" dirty="0">
                <a:solidFill>
                  <a:srgbClr val="1A1A2E"/>
                </a:solidFill>
              </a:rPr>
              <a:t>The derivation in five steps</a:t>
            </a:r>
            <a:endParaRPr lang="en-US" sz="2900" dirty="0"/>
          </a:p>
        </p:txBody>
      </p:sp>
      <p:sp>
        <p:nvSpPr>
          <p:cNvPr id="4" name="Shape 2"/>
          <p:cNvSpPr/>
          <p:nvPr/>
        </p:nvSpPr>
        <p:spPr>
          <a:xfrm>
            <a:off x="10972800" y="384048"/>
            <a:ext cx="713232" cy="713232"/>
          </a:xfrm>
          <a:prstGeom prst="roundRect">
            <a:avLst>
              <a:gd name="adj" fmla="val 17949"/>
            </a:avLst>
          </a:prstGeom>
          <a:solidFill>
            <a:srgbClr val="16425B"/>
          </a:solidFill>
          <a:ln w="12700">
            <a:solidFill>
              <a:srgbClr val="16425B"/>
            </a:solidFill>
            <a:prstDash val="solid"/>
          </a:ln>
        </p:spPr>
      </p:sp>
      <p:pic>
        <p:nvPicPr>
          <p:cNvPr id="5" name="Image 0" descr="/home/claude/fokker_planck/icons/book_w.png">    </p:cNvPr>
          <p:cNvPicPr>
            <a:picLocks noChangeAspect="1"/>
          </p:cNvPicPr>
          <p:nvPr/>
        </p:nvPicPr>
        <p:blipFill>
          <a:blip r:embed="rId1"/>
          <a:stretch>
            <a:fillRect/>
          </a:stretch>
        </p:blipFill>
        <p:spPr>
          <a:xfrm>
            <a:off x="11119104" y="530352"/>
            <a:ext cx="420624" cy="420624"/>
          </a:xfrm>
          <a:prstGeom prst="rect">
            <a:avLst/>
          </a:prstGeom>
        </p:spPr>
      </p:pic>
      <p:sp>
        <p:nvSpPr>
          <p:cNvPr id="6" name="Text 3"/>
          <p:cNvSpPr/>
          <p:nvPr/>
        </p:nvSpPr>
        <p:spPr>
          <a:xfrm>
            <a:off x="11430000" y="6446520"/>
            <a:ext cx="548640" cy="274320"/>
          </a:xfrm>
          <a:prstGeom prst="rect">
            <a:avLst/>
          </a:prstGeom>
          <a:noFill/>
          <a:ln/>
        </p:spPr>
        <p:txBody>
          <a:bodyPr wrap="square" lIns="0" tIns="0" rIns="0" bIns="0" rtlCol="0" anchor="ctr"/>
          <a:lstStyle/>
          <a:p>
            <a:pPr algn="r" indent="0" marL="0">
              <a:buNone/>
            </a:pPr>
            <a:r>
              <a:rPr lang="en-US" sz="1000" dirty="0">
                <a:solidFill>
                  <a:srgbClr val="5A6B7A"/>
                </a:solidFill>
              </a:rPr>
              <a:t>11</a:t>
            </a:r>
            <a:endParaRPr lang="en-US" sz="1000" dirty="0"/>
          </a:p>
        </p:txBody>
      </p:sp>
      <p:sp>
        <p:nvSpPr>
          <p:cNvPr id="7" name="Text 4"/>
          <p:cNvSpPr/>
          <p:nvPr/>
        </p:nvSpPr>
        <p:spPr>
          <a:xfrm>
            <a:off x="868680" y="1737360"/>
            <a:ext cx="10515600" cy="3566160"/>
          </a:xfrm>
          <a:prstGeom prst="rect">
            <a:avLst/>
          </a:prstGeom>
          <a:noFill/>
          <a:ln/>
        </p:spPr>
        <p:txBody>
          <a:bodyPr wrap="square" lIns="0" tIns="0" rIns="0" bIns="0" rtlCol="0" anchor="ctr"/>
          <a:lstStyle/>
          <a:p>
            <a:pPr marL="342900" indent="-342900">
              <a:spcAft>
                <a:spcPts val="1200"/>
              </a:spcAft>
              <a:buSzPct val="100000"/>
              <a:buChar char="•"/>
            </a:pPr>
            <a:r>
              <a:rPr lang="en-US" sz="1600" dirty="0">
                <a:solidFill>
                  <a:srgbClr val="1A1A2E"/>
                </a:solidFill>
              </a:rPr>
              <a:t>1.  Moving frame:  y = x − μt.  Chain rule:  ∂p/∂t = ∂q/∂τ − μ ∂q/∂y ;  space derivatives unchanged.</a:t>
            </a:r>
            <a:endParaRPr lang="en-US" sz="1600" dirty="0"/>
          </a:p>
          <a:p>
            <a:pPr marL="342900" indent="-342900">
              <a:spcAft>
                <a:spcPts val="1200"/>
              </a:spcAft>
              <a:buSzPct val="100000"/>
              <a:buChar char="•"/>
            </a:pPr>
            <a:r>
              <a:rPr lang="en-US" sz="1600" dirty="0">
                <a:solidFill>
                  <a:srgbClr val="1A1A2E"/>
                </a:solidFill>
              </a:rPr>
              <a:t>2.  Substitute — the drift terms cancel, leaving the pure heat equation:  ∂q/∂τ = (σ²/2) ∂²q/∂y².</a:t>
            </a:r>
            <a:endParaRPr lang="en-US" sz="1600" dirty="0"/>
          </a:p>
          <a:p>
            <a:pPr marL="342900" indent="-342900">
              <a:spcAft>
                <a:spcPts val="1200"/>
              </a:spcAft>
              <a:buSzPct val="100000"/>
              <a:buChar char="•"/>
            </a:pPr>
            <a:r>
              <a:rPr lang="en-US" sz="1600" dirty="0">
                <a:solidFill>
                  <a:srgbClr val="1A1A2E"/>
                </a:solidFill>
              </a:rPr>
              <a:t>3.  Fourier transform: derivatives become multiplication → ODE per mode:  q̂(k,τ) = e^(−σ²k²τ/2).</a:t>
            </a:r>
            <a:endParaRPr lang="en-US" sz="1600" dirty="0"/>
          </a:p>
          <a:p>
            <a:pPr marL="342900" indent="-342900">
              <a:spcAft>
                <a:spcPts val="1200"/>
              </a:spcAft>
              <a:buSzPct val="100000"/>
              <a:buChar char="•"/>
            </a:pPr>
            <a:r>
              <a:rPr lang="en-US" sz="1600" dirty="0">
                <a:solidFill>
                  <a:srgbClr val="1A1A2E"/>
                </a:solidFill>
              </a:rPr>
              <a:t>4.  Invert (Gaussian ↔ Gaussian):  q(y,τ) = (2πσ²τ)^(−½) · e^(−y²/2σ²τ).</a:t>
            </a:r>
            <a:endParaRPr lang="en-US" sz="1600" dirty="0"/>
          </a:p>
          <a:p>
            <a:pPr marL="342900" indent="-342900">
              <a:buSzPct val="100000"/>
              <a:buChar char="•"/>
            </a:pPr>
            <a:r>
              <a:rPr lang="en-US" sz="1600" dirty="0">
                <a:solidFill>
                  <a:srgbClr val="1A1A2E"/>
                </a:solidFill>
              </a:rPr>
              <a:t>5.  Transform back (y = x − μt):  p(x,t) = (2πσ²t)^(−½) · exp( −(x−μt)² / 2σ²t )  —  N(μt, σ²t).</a:t>
            </a:r>
            <a:endParaRPr lang="en-US" sz="1600" dirty="0"/>
          </a:p>
        </p:txBody>
      </p:sp>
      <p:sp>
        <p:nvSpPr>
          <p:cNvPr id="8" name="Text 5"/>
          <p:cNvSpPr/>
          <p:nvPr/>
        </p:nvSpPr>
        <p:spPr>
          <a:xfrm>
            <a:off x="868680" y="5577840"/>
            <a:ext cx="10515600" cy="548640"/>
          </a:xfrm>
          <a:prstGeom prst="rect">
            <a:avLst/>
          </a:prstGeom>
          <a:noFill/>
          <a:ln/>
        </p:spPr>
        <p:txBody>
          <a:bodyPr wrap="square" lIns="0" tIns="0" rIns="0" bIns="0" rtlCol="0" anchor="ctr"/>
          <a:lstStyle/>
          <a:p>
            <a:pPr indent="0" marL="0">
              <a:buNone/>
            </a:pPr>
            <a:r>
              <a:rPr lang="en-US" sz="1450" i="1" dirty="0">
                <a:solidFill>
                  <a:srgbClr val="5A6B7A"/>
                </a:solidFill>
              </a:rPr>
              <a:t>Independent check: integrate the SDE directly — X(t) = μt + σW(t), and W(t) ~ N(0, t) gives the same result.   </a:t>
            </a:r>
            <a:pPr indent="0" marL="0">
              <a:buNone/>
            </a:pPr>
            <a:r>
              <a:rPr lang="en-US" sz="1450" u="sng" dirty="0">
                <a:solidFill>
                  <a:srgbClr val="16425B"/>
                </a:solidFill>
                <a:hlinkClick r:id="rId2" action="ppaction://hlinksldjump" tooltip="">
                  <a:extLst>
                    <a:ext uri="{A12FA001-AC4F-418D-AE19-62706E023703}">
                      <ahyp:hlinkClr xmlns:ahyp="http://schemas.microsoft.com/office/drawing/2018/hyperlinkcolor" val="tx"/>
                    </a:ext>
                  </a:extLst>
                </a:hlinkClick>
              </a:rPr>
              <a:t>← back to talk</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2026-07-26T04:17:52Z</dcterms:created>
  <dcterms:modified xsi:type="dcterms:W3CDTF">2026-07-26T04:17:52Z</dcterms:modified>
</cp:coreProperties>
</file>